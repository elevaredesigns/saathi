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28d3d88d-0ee3-4985-694f-ef1398663e4f}">
          <p14:sldIdLst>
            <p14:sldId id="256"/>
          </p14:sldIdLst>
        </p14:section>
        <p14:section name="Pitch" id="{3f85eb9f-3a0a-92d6-9076-25bdb7f0cc71}">
          <p14:sldIdLst>
            <p14:sldId id="257"/>
          </p14:sldIdLst>
        </p14:section>
        <p14:section name="Contents" id="{cb7eae6b-efbf-ffff-1831-b66088a03d61}">
          <p14:sldIdLst>
            <p14:sldId id="258"/>
          </p14:sldIdLst>
        </p14:section>
        <p14:section name="Problem" id="{fdc187e4-5a91-eb78-8a9e-f5c7dda38866}">
          <p14:sldIdLst>
            <p14:sldId id="259"/>
            <p14:sldId id="260"/>
          </p14:sldIdLst>
        </p14:section>
        <p14:section name="Research" id="{64b2b0a6-dfb2-a1c1-ec17-089fa820cec3}">
          <p14:sldIdLst>
            <p14:sldId id="261"/>
            <p14:sldId id="262"/>
          </p14:sldIdLst>
        </p14:section>
        <p14:section name="Solution" id="{2fb4ea30-a198-bef0-89a0-f3ae7e3e8c5f}">
          <p14:sldIdLst>
            <p14:sldId id="263"/>
            <p14:sldId id="264"/>
            <p14:sldId id="265"/>
          </p14:sldIdLst>
        </p14:section>
        <p14:section name="Saathi AI" id="{30959f2e-8179-d835-d601-49d855a62d1a}">
          <p14:sldIdLst>
            <p14:sldId id="266"/>
            <p14:sldId id="267"/>
          </p14:sldIdLst>
        </p14:section>
        <p14:section name="Product" id="{0a0d4e2b-83b1-d0ac-954e-9a9f0f35d666}">
          <p14:sldIdLst>
            <p14:sldId id="268"/>
            <p14:sldId id="269"/>
            <p14:sldId id="270"/>
          </p14:sldIdLst>
        </p14:section>
        <p14:section name="Inclusion &amp; trust" id="{54fca065-410d-21a5-0c15-2c64083ed2ee}">
          <p14:sldIdLst>
            <p14:sldId id="271"/>
            <p14:sldId id="272"/>
          </p14:sldIdLst>
        </p14:section>
        <p14:section name="Design" id="{b698bbd3-a6f3-8f4e-2143-351fb805e9a6}">
          <p14:sldIdLst>
            <p14:sldId id="273"/>
            <p14:sldId id="274"/>
          </p14:sldIdLst>
        </p14:section>
        <p14:section name="Technology" id="{edc30b68-a6b0-53d5-865a-8fbffc2105a8}">
          <p14:sldIdLst>
            <p14:sldId id="275"/>
          </p14:sldIdLst>
        </p14:section>
        <p14:section name="Innovation &amp; impact" id="{28b958dc-8a1c-c666-a416-aac11d1e4cd8}">
          <p14:sldIdLst>
            <p14:sldId id="276"/>
            <p14:sldId id="277"/>
          </p14:sldIdLst>
        </p14:section>
        <p14:section name="Validation &amp; roadmap" id="{f8f065dd-14ef-77d3-78e5-c93e6d6eca7b}">
          <p14:sldIdLst>
            <p14:sldId id="278"/>
            <p14:sldId id="279"/>
          </p14:sldIdLst>
        </p14:section>
        <p14:section name="Demo" id="{77a68a65-df0a-5180-8d39-67923c05aa32}">
          <p14:sldIdLst>
            <p14:sldId id="280"/>
          </p14:sldIdLst>
        </p14:section>
        <p14:section name="Conclusion" id="{ee1af98e-bc79-b2b7-153a-a75c979ceda0}">
          <p14:sldIdLst>
            <p14:sldId id="281"/>
          </p14:sldIdLst>
        </p14:section>
        <p14:section name="Close" id="{742131c0-6e70-f50b-e391-0317e985225a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"/>
            <a:ext cx="329184" cy="2542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46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627632" y="246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Citizen Services App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1112" y="2834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EXPO 2026  ·  CUPE4-ENT-UIC-157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  ·  UIC</a:t>
            </a:r>
            <a:endParaRPr lang="en-US" sz="95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indent="0" marL="0">
              <a:buNone/>
            </a:pP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DARK">
    <p:bg>
      <p:bgPr>
        <a:solidFill>
          <a:srgbClr val="0A1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"/>
            <a:ext cx="329184" cy="2542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46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627632" y="246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Citizen Services App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  ·  UIC</a:t>
            </a:r>
            <a:endParaRPr lang="en-US" sz="95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line-art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0"/>
            <a:ext cx="65836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8A1F"/>
          </a:solidFill>
          <a:ln/>
        </p:spPr>
      </p:sp>
      <p:sp>
        <p:nvSpPr>
          <p:cNvPr id="4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57443" y="-10973"/>
            <a:ext cx="76810" cy="7681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6" name="Shape 3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12803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457200" cy="35295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219456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3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40080" y="1417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Expo 2026  ·  Chandigarh University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43400" y="1417320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343400" y="14173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ID  ·  CUPE4-ENT-UIC-157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1874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Expo 2026 · Chandigarh University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228600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 City Citizen
</a:t>
            </a:r>
            <a:pPr indent="0" marL="0">
              <a:lnSpc>
                <a:spcPct val="95000"/>
              </a:lnSpc>
              <a:buNone/>
            </a:pPr>
            <a:r>
              <a:rPr lang="en-US" sz="44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App</a:t>
            </a:r>
            <a:pPr indent="0" marL="0">
              <a:lnSpc>
                <a:spcPct val="95000"/>
              </a:lnSpc>
              <a:buNone/>
            </a:pPr>
            <a:endParaRPr lang="en-US" sz="44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400507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— one door to every government service. A multilingual, voice-first citizen app with an assistant that asks before it acts.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40080" y="4846320"/>
            <a:ext cx="603504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96112" y="5010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896112" y="5266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Krishom Sharma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96112" y="5650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 (UI/UX Designs)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896112" y="5888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UID — 24BCU10002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977640" y="5074920"/>
            <a:ext cx="0" cy="96012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206240" y="5010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4206240" y="5266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UIC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4206240" y="5650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Institute of Computing</a:t>
            </a:r>
            <a:endParaRPr lang="en-US" sz="1200" dirty="0"/>
          </a:p>
        </p:txBody>
      </p:sp>
      <p:pic>
        <p:nvPicPr>
          <p:cNvPr id="26" name="Image 2" descr="Saathi prototype screen: ph_saath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02920"/>
            <a:ext cx="3003490" cy="585216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406640" y="6446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design concept. Not affiliated with the Government of India.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ONE SENTENCE</a:t>
            </a:r>
            <a:endParaRPr lang="en-US" sz="105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door to every </a:t>
            </a:r>
            <a:pPr algn="l" indent="0" marL="0">
              <a:buNone/>
            </a:pPr>
            <a:r>
              <a:rPr lang="en-US" sz="40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service.</a:t>
            </a:r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54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B9C8F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हर सरकारी सेवा का एक द्वार।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86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is a smart-city citizen app that starts from your life, not from a department. Ask in your own language — it finds what you're entitled to, fills in the forms and keeps the receipts.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9834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577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processes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331720" y="49834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5577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 live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49834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5577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dept. consoles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49834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5577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without consent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we'll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 maze of apps to one trustworthy door — and the working prototype behind it.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2258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14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Hundreds of apps, three frictions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916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Research &amp; users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1729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personas from the field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57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753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8313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— one door, three lenses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4233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Built, not just designed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489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exists and runs today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73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4892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AI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51480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assistant that asks before it acts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5550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product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58064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app, website, department consoles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922008" y="2258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Inclusion &amp; trust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22008" y="2514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languages, 8 access modes, consent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922008" y="2916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system &amp; 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22008" y="31729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Bharat Precision, five tabs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3557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35753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Technology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22008" y="38313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Stack, architecture, India Stack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2153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6922008" y="4233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Innovation &amp; impact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22008" y="4489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new, SDGs, Viksit Bharat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4873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6922008" y="4892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 &amp; roadmap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922008" y="51480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Targets, testing plan, 2026 → 2047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263640" y="5532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6922008" y="5550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922008" y="58064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three-minute walkthrough for judges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Hundreds of apps. No single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door.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citizen of a smart city doesn't deal with one government. They deal with dozens.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service has its own app, login, language and idea of how a form should work. Finding the real one — not a lookalike, not a middleman — takes confidence, data and patience that the people who need help most often don't have.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FEW OF THE APPS A CITIZEN IS EXPECTED TO JUGGLE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462272"/>
            <a:ext cx="772668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462272"/>
            <a:ext cx="772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UMANG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12748" y="4462272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2748" y="4462272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DigiLocker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65476" y="446227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65476" y="44622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mAadhaar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62756" y="4462272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2756" y="4462272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mParivahan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864608"/>
            <a:ext cx="928116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864608"/>
            <a:ext cx="928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e-Shram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568196" y="4864608"/>
            <a:ext cx="1083564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68196" y="4864608"/>
            <a:ext cx="1083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DigiYatra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0" y="48646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4864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Ayushman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0" y="4864608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4864608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EPFO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26864" y="4864608"/>
            <a:ext cx="617220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26864" y="4864608"/>
            <a:ext cx="617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NSP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66944"/>
            <a:ext cx="928116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266944"/>
            <a:ext cx="928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Bhulekh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568196" y="5266944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68196" y="5266944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PFMS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54580" y="5266944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54580" y="5266944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Income Tax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240280"/>
            <a:ext cx="5376672" cy="38862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3796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200" dirty="0">
                <a:solidFill>
                  <a:srgbClr val="FF8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30632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मुझे पता है कि सब online है, but मुझे ये नहीं पता कि कौन सा online असली है.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251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know everything's online — I just don't know which ‘online’ is the real one.”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537960" y="5212080"/>
            <a:ext cx="484632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3796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Rakesh, 34 — shopkeeper, Kanpur  ·  user research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rails are built. The door is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missing.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 runs the largest digital public infrastructure in the world — and still lacks a front door.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52044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fingerprint"/>
          <p:cNvSpPr/>
          <p:nvPr/>
        </p:nvSpPr>
        <p:spPr>
          <a:xfrm>
            <a:off x="822960" y="24688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fingerpr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5795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142 crore+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Aadhaar numbers issued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2240280"/>
            <a:ext cx="352044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currency-inr"/>
          <p:cNvSpPr/>
          <p:nvPr/>
        </p:nvSpPr>
        <p:spPr>
          <a:xfrm>
            <a:off x="4572000" y="24688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1" name="Image 1" descr="currency-in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642" y="25795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23.2 billion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payments in May 2026 alone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240280"/>
            <a:ext cx="352044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folder-lock"/>
          <p:cNvSpPr/>
          <p:nvPr/>
        </p:nvSpPr>
        <p:spPr>
          <a:xfrm>
            <a:off x="8321040" y="24688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6" name="Image 2" descr="folder-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682" y="257952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70 crore+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DigiLocker accounts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224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FRICTIONS HEARD AGAIN AND AGAIN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526280"/>
            <a:ext cx="3520440" cy="14630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/>
        </p:spPr>
      </p:sp>
      <p:sp>
        <p:nvSpPr>
          <p:cNvPr id="21" name="tile-translate"/>
          <p:cNvSpPr/>
          <p:nvPr/>
        </p:nvSpPr>
        <p:spPr>
          <a:xfrm>
            <a:off x="777240" y="47548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2" name="Image 3" descr="transl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4865522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44752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Language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444752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 fall back to English; many citizens read slowly or in another script.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97680" y="4526280"/>
            <a:ext cx="3520440" cy="14630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/>
        </p:spPr>
      </p:sp>
      <p:sp>
        <p:nvSpPr>
          <p:cNvPr id="26" name="tile-shield-warning"/>
          <p:cNvSpPr/>
          <p:nvPr/>
        </p:nvSpPr>
        <p:spPr>
          <a:xfrm>
            <a:off x="4526280" y="47548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27" name="Image 4" descr="shield-warn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922" y="4865522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193792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5193792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portals sit one search away; middlemen charge for confidence.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46720" y="4526280"/>
            <a:ext cx="3520440" cy="14630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/>
        </p:spPr>
      </p:sp>
      <p:sp>
        <p:nvSpPr>
          <p:cNvPr id="31" name="tile-signpost"/>
          <p:cNvSpPr/>
          <p:nvPr/>
        </p:nvSpPr>
        <p:spPr>
          <a:xfrm>
            <a:off x="8275320" y="47548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32" name="Image 5" descr="signpos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962" y="4865522"/>
            <a:ext cx="281635" cy="28163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42832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to start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942832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are sorted by department; people think in life events.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Aadhaar IDs (Apr 2025) · NPCI UPI data, May 2026 · DigiLocker users 2026 — as cited on the Saathi website.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people. Four very different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needs.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Personas from conversations in cities, small towns and villages.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514600"/>
            <a:ext cx="777240" cy="777240"/>
          </a:xfrm>
          <a:prstGeom prst="ellipse">
            <a:avLst/>
          </a:prstGeom>
          <a:solidFill>
            <a:srgbClr val="EEF2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RV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Rakesh Verma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 · Tier-2 · Kanpur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Shopkeeper, burned by fake-portal scams.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" y="4983480"/>
            <a:ext cx="210312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510235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it looks official, I still double-check. Twice.”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55848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2514600"/>
            <a:ext cx="777240" cy="777240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Sunita Devi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· Rural · Bihar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Farmer, low literacy, one shared phone.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11880" y="4983480"/>
            <a:ext cx="210312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11880" y="510235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can speak it. I can't always read it.”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63056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9088" y="2514600"/>
            <a:ext cx="777240" cy="777240"/>
          </a:xfrm>
          <a:prstGeom prst="ellipse">
            <a:avLst/>
          </a:prstGeom>
          <a:solidFill>
            <a:srgbClr val="ECF8F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9088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2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Vikram Singh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19088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 · Senior · Chennai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Retired teacher, prefers Tamil.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19088" y="4983480"/>
            <a:ext cx="210312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9088" y="510235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12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“Don't hurry me. Just tell me clearly.”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970264" y="2240280"/>
            <a:ext cx="2606040" cy="38862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26296" y="2514600"/>
            <a:ext cx="777240" cy="777240"/>
          </a:xfrm>
          <a:prstGeom prst="ellipse">
            <a:avLst/>
          </a:prstGeom>
          <a:solidFill>
            <a:srgbClr val="F3EF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26296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6D4A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Ananya Sharma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226296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· Urban · Bengaluru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226296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Analyst, zero patience for friction.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226296" y="4983480"/>
            <a:ext cx="210312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26296" y="510235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6D4A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it takes more than the train ride, I'll abandon it.”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MIGHT WE</a:t>
            </a:r>
            <a:endParaRPr lang="en-US" sz="105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one trustworthy, multilingual door to every city service — that starts from the citizen's </a:t>
            </a:r>
            <a:pPr algn="l" indent="0" marL="0">
              <a:buNone/>
            </a:pPr>
            <a:r>
              <a:rPr lang="en-US" sz="40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</a:t>
            </a:r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not from a department?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54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Rakesh, Sunita, Vikram and Ananya — and every citizen who has stood in the wrong queue.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— one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door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don't think in departments. They think in moments, needs and entitlements.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115568" y="2194560"/>
            <a:ext cx="2468880" cy="2468880"/>
          </a:xfrm>
          <a:prstGeom prst="ellipse">
            <a:avLst/>
          </a:prstGeom>
          <a:solidFill>
            <a:srgbClr val="1F43B8">
              <a:alpha val="14000"/>
            </a:srgbClr>
          </a:solidFill>
          <a:ln w="15875">
            <a:solidFill>
              <a:srgbClr val="1F4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42032" y="2194560"/>
            <a:ext cx="2468880" cy="2468880"/>
          </a:xfrm>
          <a:prstGeom prst="ellipse">
            <a:avLst/>
          </a:prstGeom>
          <a:solidFill>
            <a:srgbClr val="FF8A1F">
              <a:alpha val="14000"/>
            </a:srgbClr>
          </a:solidFill>
          <a:ln w="15875">
            <a:solidFill>
              <a:srgbClr val="FF8A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3383280"/>
            <a:ext cx="2468880" cy="2468880"/>
          </a:xfrm>
          <a:prstGeom prst="ellipse">
            <a:avLst/>
          </a:prstGeom>
          <a:solidFill>
            <a:srgbClr val="12803C">
              <a:alpha val="14000"/>
            </a:srgbClr>
          </a:solidFill>
          <a:ln w="15875">
            <a:solidFill>
              <a:srgbClr val="1280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Moments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5A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Entitlements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3749040"/>
            <a:ext cx="914400" cy="384048"/>
          </a:xfrm>
          <a:prstGeom prst="ellipse">
            <a:avLst/>
          </a:prstGeom>
          <a:solidFill>
            <a:srgbClr val="0B0D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06040" y="3749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Citizen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2359152"/>
            <a:ext cx="146304" cy="146304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birth, a job, a move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786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 moments bundle every department involved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3227832"/>
            <a:ext cx="146304" cy="146304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3154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document, a payment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447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get you to the right form in two taps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4096512"/>
            <a:ext cx="146304" cy="146304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4023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Schemes and pensions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4315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Entitlements show what you're owed — and why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89320" y="4965192"/>
            <a:ext cx="146304" cy="146304"/>
          </a:xfrm>
          <a:prstGeom prst="ellipse">
            <a:avLst/>
          </a:prstGeom>
          <a:solidFill>
            <a:srgbClr val="6D4AC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63640" y="4892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Saathi what you need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5184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assistant routes any words, any language</a:t>
            </a:r>
            <a:endParaRPr lang="en-US" sz="1150" dirty="0"/>
          </a:p>
        </p:txBody>
      </p:sp>
      <p:pic>
        <p:nvPicPr>
          <p:cNvPr id="24" name="Image 0" descr="Saathi prototype screen: ph_mo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1965960"/>
            <a:ext cx="2229152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Built, not just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below exists and runs in the browser today.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files"/>
          <p:cNvSpPr/>
          <p:nvPr/>
        </p:nvSpPr>
        <p:spPr>
          <a:xfrm>
            <a:off x="777240" y="242316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fi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237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3500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42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processes modelled on their real portals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55848" y="219456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translate"/>
          <p:cNvSpPr/>
          <p:nvPr/>
        </p:nvSpPr>
        <p:spPr>
          <a:xfrm>
            <a:off x="3584448" y="242316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1" name="Image 1" descr="trans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25237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24528" y="23500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 live — 6 more of the Eighth Schedule coming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63056" y="219456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buildings"/>
          <p:cNvSpPr/>
          <p:nvPr/>
        </p:nvSpPr>
        <p:spPr>
          <a:xfrm>
            <a:off x="6391656" y="242316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6" name="Image 2" descr="buildin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5237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31736" y="23500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</a:t>
            </a:r>
            <a:endParaRPr lang="en-US" sz="3200" dirty="0"/>
          </a:p>
        </p:txBody>
      </p:sp>
      <p:sp>
        <p:nvSpPr>
          <p:cNvPr id="18" name="Text 13"/>
          <p:cNvSpPr txBox="1"/>
          <p:nvPr/>
        </p:nvSpPr>
        <p:spPr>
          <a:xfrm>
            <a:off x="6391656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consoles for officers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70264" y="219456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sparkle"/>
          <p:cNvSpPr/>
          <p:nvPr/>
        </p:nvSpPr>
        <p:spPr>
          <a:xfrm>
            <a:off x="9198864" y="242316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21" name="Image 3" descr="spark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25237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838944" y="23500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3200" dirty="0"/>
          </a:p>
        </p:txBody>
      </p:sp>
      <p:sp>
        <p:nvSpPr>
          <p:cNvPr id="23" name="Text 17"/>
          <p:cNvSpPr txBox="1"/>
          <p:nvPr/>
        </p:nvSpPr>
        <p:spPr>
          <a:xfrm>
            <a:off x="9198864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missions, each ending in a real outcome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178808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ile-hand-waving"/>
          <p:cNvSpPr/>
          <p:nvPr/>
        </p:nvSpPr>
        <p:spPr>
          <a:xfrm>
            <a:off x="777240" y="44074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26" name="Image 4" descr="hand-wav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50799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43342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32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0474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steps, incl. DPDP-style consent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3355848" y="4178808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0" name="tile-person-arms-spread"/>
          <p:cNvSpPr/>
          <p:nvPr/>
        </p:nvSpPr>
        <p:spPr>
          <a:xfrm>
            <a:off x="3584448" y="44074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31" name="Image 5" descr="person-arms-sprea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450799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224528" y="43342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3200" dirty="0"/>
          </a:p>
        </p:txBody>
      </p:sp>
      <p:sp>
        <p:nvSpPr>
          <p:cNvPr id="33" name="Text 25"/>
          <p:cNvSpPr txBox="1"/>
          <p:nvPr/>
        </p:nvSpPr>
        <p:spPr>
          <a:xfrm>
            <a:off x="3584448" y="50474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modes, on by default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163056" y="4178808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5" name="tile-devices"/>
          <p:cNvSpPr/>
          <p:nvPr/>
        </p:nvSpPr>
        <p:spPr>
          <a:xfrm>
            <a:off x="6391656" y="44074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36" name="Image 6" descr="devic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507992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31736" y="43342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3200" dirty="0"/>
          </a:p>
        </p:txBody>
      </p:sp>
      <p:sp>
        <p:nvSpPr>
          <p:cNvPr id="38" name="Text 29"/>
          <p:cNvSpPr txBox="1"/>
          <p:nvPr/>
        </p:nvSpPr>
        <p:spPr>
          <a:xfrm>
            <a:off x="6391656" y="50474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surfaces: app, website, consoles, design system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8970264" y="4178808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0" name="tile-currency-inr"/>
          <p:cNvSpPr/>
          <p:nvPr/>
        </p:nvSpPr>
        <p:spPr>
          <a:xfrm>
            <a:off x="9198864" y="44074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41" name="Image 7" descr="currency-in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9448" y="4507992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838944" y="43342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₹0</a:t>
            </a:r>
            <a:endParaRPr lang="en-US" sz="3200" dirty="0"/>
          </a:p>
        </p:txBody>
      </p:sp>
      <p:sp>
        <p:nvSpPr>
          <p:cNvPr id="43" name="Text 33"/>
          <p:cNvSpPr txBox="1"/>
          <p:nvPr/>
        </p:nvSpPr>
        <p:spPr>
          <a:xfrm>
            <a:off x="9198864" y="50474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cost — an open-source stack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Eight modules, one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module is built and clickable in the prototype.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hand-waving"/>
          <p:cNvSpPr/>
          <p:nvPr/>
        </p:nvSpPr>
        <p:spPr>
          <a:xfrm>
            <a:off x="786384" y="243230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hand-wav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038" y="2544958"/>
            <a:ext cx="286756" cy="2867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6384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3383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Language, Aadhaar, OTP, consent, profile, accessibility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219456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house"/>
          <p:cNvSpPr/>
          <p:nvPr/>
        </p:nvSpPr>
        <p:spPr>
          <a:xfrm>
            <a:off x="3593592" y="243230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1" name="Image 1" descr="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246" y="2544958"/>
            <a:ext cx="286756" cy="2867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3383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card, needs-attention nudges, schemes for you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219456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compass"/>
          <p:cNvSpPr/>
          <p:nvPr/>
        </p:nvSpPr>
        <p:spPr>
          <a:xfrm>
            <a:off x="6400800" y="243230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6" name="Image 2" descr="com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454" y="2544958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Explore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383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 moments, services and schemes, on-device search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70264" y="2194560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sparkle"/>
          <p:cNvSpPr/>
          <p:nvPr/>
        </p:nvSpPr>
        <p:spPr>
          <a:xfrm>
            <a:off x="9208008" y="243230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21" name="Image 3" descr="spark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662" y="2544958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08008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AI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208008" y="3383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Plans, shows sources, asks consent, then acts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178808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ile-files"/>
          <p:cNvSpPr/>
          <p:nvPr/>
        </p:nvSpPr>
        <p:spPr>
          <a:xfrm>
            <a:off x="786384" y="441655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26" name="Image 4" descr="fi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38" y="4529206"/>
            <a:ext cx="286756" cy="2867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6384" y="5047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engine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86384" y="53675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flows: voice fill, documents, review, receipt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55848" y="4178808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0" name="tile-list-checks"/>
          <p:cNvSpPr/>
          <p:nvPr/>
        </p:nvSpPr>
        <p:spPr>
          <a:xfrm>
            <a:off x="3593592" y="441655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31" name="Image 5" descr="list-chec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6246" y="4529206"/>
            <a:ext cx="286756" cy="2867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93592" y="5047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Track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3593592" y="53675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Stages, named officers, SLAs, “why the delay?”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163056" y="4178808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5" name="tile-wallet"/>
          <p:cNvSpPr/>
          <p:nvPr/>
        </p:nvSpPr>
        <p:spPr>
          <a:xfrm>
            <a:off x="6400800" y="441655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36" name="Image 6" descr="wall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3454" y="4529206"/>
            <a:ext cx="286756" cy="2867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00800" y="5047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 &amp; privacy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6400800" y="53675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wallet, family proxy, access log, revoke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8970264" y="4178808"/>
            <a:ext cx="2606040" cy="1810512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0" name="tile-buildings"/>
          <p:cNvSpPr/>
          <p:nvPr/>
        </p:nvSpPr>
        <p:spPr>
          <a:xfrm>
            <a:off x="9208008" y="441655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41" name="Image 7" descr="building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0662" y="4529206"/>
            <a:ext cx="286756" cy="2867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08008" y="5047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Dept. consoles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9208008" y="53675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Review, verify, decide — live to the citizen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flow — Saathi AI asks before it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Rakesh asks for his daughter's birth certificate, in Hindi. Four steps, one consent, real proof.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4087368"/>
            <a:ext cx="146304" cy="1463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64992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593592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050792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408736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1344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0A1C54"/>
          </a:solidFill>
          <a:ln w="9525">
            <a:solidFill>
              <a:srgbClr val="0A1C54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09944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867144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Approve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4087368"/>
            <a:ext cx="146304" cy="14630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997696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9226296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9683496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77240" y="2788920"/>
            <a:ext cx="2176272" cy="1051560"/>
          </a:xfrm>
          <a:prstGeom prst="roundRect">
            <a:avLst>
              <a:gd name="adj" fmla="val 13913"/>
            </a:avLst>
          </a:prstGeom>
          <a:solidFill>
            <a:srgbClr val="1F43B8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14400" y="27889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मेरी बेटी का जन्म प्रमाणपत्र बनवाना है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3A3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need to get my daughter's birth certificate”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0B0D1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020056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846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voice or text, in any of 17 languages</a:t>
            </a:r>
            <a:endParaRPr lang="en-US" sz="10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277977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93192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the hospital birth record from DigiLocker</a:t>
            </a:r>
            <a:endParaRPr lang="en-US" sz="11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349300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931920" y="3456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Form 1 for e-District</a:t>
            </a:r>
            <a:endParaRPr lang="en-US" sz="11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592" y="4206240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931920" y="41696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Janani Suraksha Yojana eligibility</a:t>
            </a:r>
            <a:endParaRPr lang="en-US" sz="11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4919472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3931920" y="48828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to Nagar Nigam, Kanpur</a:t>
            </a:r>
            <a:endParaRPr lang="en-US" sz="1150" dirty="0"/>
          </a:p>
        </p:txBody>
      </p:sp>
      <p:sp>
        <p:nvSpPr>
          <p:cNvPr id="33" name="Text 23"/>
          <p:cNvSpPr txBox="1"/>
          <p:nvPr/>
        </p:nvSpPr>
        <p:spPr>
          <a:xfrm>
            <a:off x="3593592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1633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names its official source</a:t>
            </a:r>
            <a:endParaRPr lang="en-US" sz="1050" dirty="0"/>
          </a:p>
        </p:txBody>
      </p:sp>
      <p:sp>
        <p:nvSpPr>
          <p:cNvPr id="34" name="Text 24"/>
          <p:cNvSpPr txBox="1"/>
          <p:nvPr/>
        </p:nvSpPr>
        <p:spPr>
          <a:xfrm>
            <a:off x="6409944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 with Nagar Nigam, Kanpur?</a:t>
            </a:r>
            <a:endParaRPr lang="en-US" sz="13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944" y="3429000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711696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name and address</a:t>
            </a:r>
            <a:endParaRPr lang="en-US" sz="11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944" y="3840480"/>
            <a:ext cx="201168" cy="201168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711696" y="3794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Aanya's hospital birth record</a:t>
            </a:r>
            <a:endParaRPr lang="en-US" sz="1150" dirty="0"/>
          </a:p>
        </p:txBody>
      </p:sp>
      <p:sp>
        <p:nvSpPr>
          <p:cNvPr id="39" name="Text 27"/>
          <p:cNvSpPr txBox="1"/>
          <p:nvPr/>
        </p:nvSpPr>
        <p:spPr>
          <a:xfrm>
            <a:off x="6409944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until the application closes</a:t>
            </a:r>
            <a:endParaRPr lang="en-US" sz="1050" dirty="0"/>
          </a:p>
        </p:txBody>
      </p:sp>
      <p:sp>
        <p:nvSpPr>
          <p:cNvPr id="40" name="Shape 28"/>
          <p:cNvSpPr/>
          <p:nvPr/>
        </p:nvSpPr>
        <p:spPr>
          <a:xfrm>
            <a:off x="6409944" y="475488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Text 29"/>
          <p:cNvSpPr txBox="1"/>
          <p:nvPr/>
        </p:nvSpPr>
        <p:spPr>
          <a:xfrm>
            <a:off x="6409944" y="475488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A1C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Approve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7644384" y="4754880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10286F"/>
          </a:solidFill>
          <a:ln w="9525">
            <a:solidFill>
              <a:srgbClr val="2F55D4"/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7644384" y="4754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Edit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6409944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FFB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leaves the phone without a yes</a:t>
            </a:r>
            <a:endParaRPr lang="en-US" sz="105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6296" y="2743200"/>
            <a:ext cx="457200" cy="4572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9774936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Application submitted</a:t>
            </a:r>
            <a:endParaRPr lang="en-US" sz="1300" dirty="0"/>
          </a:p>
        </p:txBody>
      </p:sp>
      <p:sp>
        <p:nvSpPr>
          <p:cNvPr id="47" name="Text 34"/>
          <p:cNvSpPr txBox="1"/>
          <p:nvPr/>
        </p:nvSpPr>
        <p:spPr>
          <a:xfrm>
            <a:off x="9226296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SAA-2026-457029</a:t>
            </a:r>
            <a:endParaRPr lang="en-US" sz="1200" dirty="0"/>
          </a:p>
        </p:txBody>
      </p:sp>
      <p:sp>
        <p:nvSpPr>
          <p:cNvPr id="48" name="Text 35"/>
          <p:cNvSpPr txBox="1"/>
          <p:nvPr/>
        </p:nvSpPr>
        <p:spPr>
          <a:xfrm>
            <a:off x="9226296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Nair is reviewing it</a:t>
            </a:r>
            <a:endParaRPr lang="en-US" sz="1150" dirty="0"/>
          </a:p>
        </p:txBody>
      </p:sp>
      <p:sp>
        <p:nvSpPr>
          <p:cNvPr id="49" name="Text 36"/>
          <p:cNvSpPr txBox="1"/>
          <p:nvPr/>
        </p:nvSpPr>
        <p:spPr>
          <a:xfrm>
            <a:off x="9226296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expected in 7 days</a:t>
            </a:r>
            <a:endParaRPr lang="en-US" sz="1150" dirty="0"/>
          </a:p>
        </p:txBody>
      </p:sp>
      <p:sp>
        <p:nvSpPr>
          <p:cNvPr id="50" name="Shape 37"/>
          <p:cNvSpPr/>
          <p:nvPr/>
        </p:nvSpPr>
        <p:spPr>
          <a:xfrm>
            <a:off x="9226296" y="4526280"/>
            <a:ext cx="2176272" cy="960120"/>
          </a:xfrm>
          <a:prstGeom prst="roundRect">
            <a:avLst>
              <a:gd name="adj" fmla="val 11429"/>
            </a:avLst>
          </a:prstGeom>
          <a:solidFill>
            <a:srgbClr val="FFF6EC"/>
          </a:solidFill>
          <a:ln/>
        </p:spPr>
      </p:sp>
      <p:sp>
        <p:nvSpPr>
          <p:cNvPr id="51" name="Text 38"/>
          <p:cNvSpPr txBox="1"/>
          <p:nvPr/>
        </p:nvSpPr>
        <p:spPr>
          <a:xfrm>
            <a:off x="9363456" y="452628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may also get ₹1,400 under Janani Suraksha Yojana.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Guardrails, and what happens when it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help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Acting on someone's identity and money raises the bar for trust. Every pattern keeps the citizen in control.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GUARDRAILS, BUILT IN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450592"/>
            <a:ext cx="539496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6" name="tile-seal-check"/>
          <p:cNvSpPr/>
          <p:nvPr/>
        </p:nvSpPr>
        <p:spPr>
          <a:xfrm>
            <a:off x="685800" y="258775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7" name="Image 0" descr="seal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454" y="2700406"/>
            <a:ext cx="286756" cy="2867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53312" y="25420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Official sources only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353312" y="28529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answer names its department or portal.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364992"/>
            <a:ext cx="539496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1" name="tile-hand-palm"/>
          <p:cNvSpPr/>
          <p:nvPr/>
        </p:nvSpPr>
        <p:spPr>
          <a:xfrm>
            <a:off x="685800" y="350215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12" name="Image 1" descr="hand-pal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54" y="3614806"/>
            <a:ext cx="286756" cy="2867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53312" y="34564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Asks before it acts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353312" y="37673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submits, pays or shares without approval.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279392"/>
            <a:ext cx="539496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6" name="tile-lightbulb"/>
          <p:cNvSpPr/>
          <p:nvPr/>
        </p:nvSpPr>
        <p:spPr>
          <a:xfrm>
            <a:off x="685800" y="441655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7" name="Image 2" descr="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4" y="4529206"/>
            <a:ext cx="286756" cy="2867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53312" y="43708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Explains itself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353312" y="46817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“Why you qualify” for every scheme it suggests.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5193792"/>
            <a:ext cx="539496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1" name="tile-user-sound"/>
          <p:cNvSpPr/>
          <p:nvPr/>
        </p:nvSpPr>
        <p:spPr>
          <a:xfrm>
            <a:off x="685800" y="533095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22" name="Image 3" descr="user-sou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54" y="5443606"/>
            <a:ext cx="286756" cy="2867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53312" y="5285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person is close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353312" y="55961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tap reaches a CSC or a helpline.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6263640" y="2148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DESIGNED FAILURE STATES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63640" y="2450592"/>
            <a:ext cx="5376672" cy="786384"/>
          </a:xfrm>
          <a:prstGeom prst="roundRect">
            <a:avLst>
              <a:gd name="adj" fmla="val 16279"/>
            </a:avLst>
          </a:prstGeom>
          <a:solidFill>
            <a:srgbClr val="F7F8FA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492240" y="2542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Didn't understand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6492240" y="28529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 three likely requests in plain words — and a person.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263640" y="3364992"/>
            <a:ext cx="5376672" cy="786384"/>
          </a:xfrm>
          <a:prstGeom prst="roundRect">
            <a:avLst>
              <a:gd name="adj" fmla="val 16279"/>
            </a:avLst>
          </a:prstGeom>
          <a:solidFill>
            <a:srgbClr val="F7F8FA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492240" y="34564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eligible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6492240" y="37673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 so plainly, name the rule, suggest what may apply instead.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263640" y="4279392"/>
            <a:ext cx="5376672" cy="786384"/>
          </a:xfrm>
          <a:prstGeom prst="roundRect">
            <a:avLst>
              <a:gd name="adj" fmla="val 16279"/>
            </a:avLst>
          </a:prstGeom>
          <a:solidFill>
            <a:srgbClr val="F7F8FA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6492240" y="43708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 unavailable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492240" y="46817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application as a draft; never lose what was entered.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6263640" y="5193792"/>
            <a:ext cx="5376672" cy="786384"/>
          </a:xfrm>
          <a:prstGeom prst="roundRect">
            <a:avLst>
              <a:gd name="adj" fmla="val 16279"/>
            </a:avLst>
          </a:prstGeom>
          <a:solidFill>
            <a:srgbClr val="F7F8FA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492240" y="52852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Needs a human</a:t>
            </a:r>
            <a:endParaRPr lang="en-US" sz="1350" dirty="0"/>
          </a:p>
        </p:txBody>
      </p:sp>
      <p:sp>
        <p:nvSpPr>
          <p:cNvPr id="37" name="Text 31"/>
          <p:cNvSpPr txBox="1"/>
          <p:nvPr/>
        </p:nvSpPr>
        <p:spPr>
          <a:xfrm>
            <a:off x="6492240" y="5596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over to the nearest CSC with the context filled in.</a:t>
            </a:r>
            <a:endParaRPr lang="en-US" sz="115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1633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Pre-scripted, not a live language model — so every answer can be reviewed before it reaches a citizen.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citizen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with consent, a home that knows what needs attention, services found by life moment.</a:t>
            </a:r>
            <a:endParaRPr lang="en-US" sz="1450" dirty="0"/>
          </a:p>
        </p:txBody>
      </p:sp>
      <p:pic>
        <p:nvPicPr>
          <p:cNvPr id="4" name="Image 0" descr="Saathi prototype screen: ph_onboa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635" y="2057400"/>
            <a:ext cx="1712928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first — 17 today</a:t>
            </a:r>
            <a:endParaRPr lang="en-US" sz="1100" dirty="0"/>
          </a:p>
        </p:txBody>
      </p:sp>
      <p:pic>
        <p:nvPicPr>
          <p:cNvPr id="7" name="Image 1" descr="Saathi prototype screen: ph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553" y="2057400"/>
            <a:ext cx="1712928" cy="3337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21558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321558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Identity, nudges, applications</a:t>
            </a:r>
            <a:endParaRPr lang="en-US" sz="1100" dirty="0"/>
          </a:p>
        </p:txBody>
      </p:sp>
      <p:pic>
        <p:nvPicPr>
          <p:cNvPr id="10" name="Image 2" descr="Saathi prototype screen: ph_expl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71" y="2057400"/>
            <a:ext cx="1712928" cy="33375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94476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Explore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094476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 moments, services, schemes</a:t>
            </a:r>
            <a:endParaRPr lang="en-US" sz="1100" dirty="0"/>
          </a:p>
        </p:txBody>
      </p:sp>
      <p:pic>
        <p:nvPicPr>
          <p:cNvPr id="13" name="Image 3" descr="Saathi prototype screen: ph_mo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89" y="2057400"/>
            <a:ext cx="1712928" cy="33375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867394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new baby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8867394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checklist, many departments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trust is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earned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assistant, the timeline, the wallet and the privacy dashboard.</a:t>
            </a:r>
            <a:endParaRPr lang="en-US" sz="1450" dirty="0"/>
          </a:p>
        </p:txBody>
      </p:sp>
      <p:pic>
        <p:nvPicPr>
          <p:cNvPr id="4" name="Image 0" descr="Saathi prototype screen: ph_saat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635" y="2057400"/>
            <a:ext cx="1712928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AI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any words</a:t>
            </a:r>
            <a:endParaRPr lang="en-US" sz="1100" dirty="0"/>
          </a:p>
        </p:txBody>
      </p:sp>
      <p:pic>
        <p:nvPicPr>
          <p:cNvPr id="7" name="Image 1" descr="Saathi prototype screen: ph_tr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553" y="2057400"/>
            <a:ext cx="1712928" cy="3337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21558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Track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321558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Stages, officers and dates</a:t>
            </a:r>
            <a:endParaRPr lang="en-US" sz="1100" dirty="0"/>
          </a:p>
        </p:txBody>
      </p:sp>
      <p:pic>
        <p:nvPicPr>
          <p:cNvPr id="10" name="Image 2" descr="Saathi prototype screen: ph_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71" y="2057400"/>
            <a:ext cx="1712928" cy="33375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94476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094476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Tinted document wallet</a:t>
            </a:r>
            <a:endParaRPr lang="en-US" sz="1100" dirty="0"/>
          </a:p>
        </p:txBody>
      </p:sp>
      <p:pic>
        <p:nvPicPr>
          <p:cNvPr id="13" name="Image 3" descr="Saathi prototype screen: ph_privac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89" y="2057400"/>
            <a:ext cx="1712928" cy="33375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867394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Privacy &amp; consent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8867394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used your data — revoke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Both sides of the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citizen's website and the officer's console — every decision reaches the citizen live, in their language.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58968" cy="3672459"/>
          </a:xfrm>
          <a:prstGeom prst="roundRect">
            <a:avLst>
              <a:gd name="adj" fmla="val 3486"/>
            </a:avLst>
          </a:prstGeom>
          <a:solidFill>
            <a:srgbClr val="EEF0F4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2240280"/>
            <a:ext cx="91440" cy="91440"/>
          </a:xfrm>
          <a:prstGeom prst="ellipse">
            <a:avLst/>
          </a:prstGeom>
          <a:solidFill>
            <a:srgbClr val="C8322B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40280"/>
            <a:ext cx="91440" cy="91440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240280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pic>
        <p:nvPicPr>
          <p:cNvPr id="8" name="Image 0" descr="Screenshot: 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423160"/>
            <a:ext cx="5349240" cy="33432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81344" y="2148840"/>
            <a:ext cx="5458968" cy="3672459"/>
          </a:xfrm>
          <a:prstGeom prst="roundRect">
            <a:avLst>
              <a:gd name="adj" fmla="val 3486"/>
            </a:avLst>
          </a:prstGeom>
          <a:solidFill>
            <a:srgbClr val="EEF0F4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27648" y="2240280"/>
            <a:ext cx="91440" cy="91440"/>
          </a:xfrm>
          <a:prstGeom prst="ellipse">
            <a:avLst/>
          </a:prstGeom>
          <a:solidFill>
            <a:srgbClr val="C8322B"/>
          </a:solidFill>
          <a:ln/>
        </p:spPr>
      </p:sp>
      <p:sp>
        <p:nvSpPr>
          <p:cNvPr id="11" name="Shape 8"/>
          <p:cNvSpPr/>
          <p:nvPr/>
        </p:nvSpPr>
        <p:spPr>
          <a:xfrm>
            <a:off x="6483096" y="2240280"/>
            <a:ext cx="91440" cy="91440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12" name="Shape 9"/>
          <p:cNvSpPr/>
          <p:nvPr/>
        </p:nvSpPr>
        <p:spPr>
          <a:xfrm>
            <a:off x="6638544" y="2240280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pic>
        <p:nvPicPr>
          <p:cNvPr id="13" name="Image 1" descr="Screenshot: conso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423160"/>
            <a:ext cx="5349240" cy="334327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5852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— “One door to every government service”, with the live prototype embedded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181344" y="5852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for Departments — 15 consoles, masked e-KYC, audit trail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speaks the way India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languages and eleven scripts today, left to right and right to left — with 8 accessibility modes on by default.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86400" cy="39319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423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“HOW CAN I HELP?”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मैं कैसे मदद करूँ?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0723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আমি কীভাবে সাহায্য করতে পারি?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0723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Bengali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447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நான் எப்படி உதவலாம்?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4472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Tamil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822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నేను ఎలా సహాయం చేయగలను?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822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Telugu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197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હું કેવી રીતે મદદ કરી શકું?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1970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Gujarati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ನಾನು ಹೇಗೆ ಸಹಾಯ ಮಾಡಲಿ?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Kannada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946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ഞാൻ എങ്ങനെ സഹായിക്കാം?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946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Malayalam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321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ਮੈਂ ਕਿਵੇਂ ਮਦਦ ਕਰ ਸਕਦਾ ਹਾਂ?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5321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Punjabi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57790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633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Hindi, Bengali, Tamil hand-authored · 13 machine-assisted, flagged for native review · 6 coming soon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2240280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4" name="tile-microphone"/>
          <p:cNvSpPr/>
          <p:nvPr/>
        </p:nvSpPr>
        <p:spPr>
          <a:xfrm>
            <a:off x="6446520" y="23957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25" name="Image 0" descr="micro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9174" y="2508382"/>
            <a:ext cx="286756" cy="28675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086600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on every field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006840" y="2240280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8" name="tile-speaker-high"/>
          <p:cNvSpPr/>
          <p:nvPr/>
        </p:nvSpPr>
        <p:spPr>
          <a:xfrm>
            <a:off x="9144000" y="23957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9" name="Image 1" descr="speaker-hig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654" y="2508382"/>
            <a:ext cx="286756" cy="286756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9784080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aloud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309360" y="3227832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2" name="tile-timer"/>
          <p:cNvSpPr/>
          <p:nvPr/>
        </p:nvSpPr>
        <p:spPr>
          <a:xfrm>
            <a:off x="6446520" y="338328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33" name="Image 2" descr="tim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174" y="3495934"/>
            <a:ext cx="286756" cy="28675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7086600" y="322783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Slow mode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9006840" y="3227832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6" name="tile-text-aa"/>
          <p:cNvSpPr/>
          <p:nvPr/>
        </p:nvSpPr>
        <p:spPr>
          <a:xfrm>
            <a:off x="9144000" y="338328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37" name="Image 3" descr="text-a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6654" y="3495934"/>
            <a:ext cx="286756" cy="286756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784080" y="322783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Larger text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6309360" y="4215384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0" name="tile-users"/>
          <p:cNvSpPr/>
          <p:nvPr/>
        </p:nvSpPr>
        <p:spPr>
          <a:xfrm>
            <a:off x="6446520" y="437083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41" name="Image 4" descr="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174" y="4483486"/>
            <a:ext cx="286756" cy="286756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086600" y="4215384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Family / proxy mode</a:t>
            </a:r>
            <a:endParaRPr lang="en-US" sz="1250" dirty="0"/>
          </a:p>
        </p:txBody>
      </p:sp>
      <p:sp>
        <p:nvSpPr>
          <p:cNvPr id="43" name="Shape 36"/>
          <p:cNvSpPr/>
          <p:nvPr/>
        </p:nvSpPr>
        <p:spPr>
          <a:xfrm>
            <a:off x="9006840" y="4215384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4" name="tile-wifi-slash"/>
          <p:cNvSpPr/>
          <p:nvPr/>
        </p:nvSpPr>
        <p:spPr>
          <a:xfrm>
            <a:off x="9144000" y="437083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45" name="Image 5" descr="wifi-sla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6654" y="4483486"/>
            <a:ext cx="286756" cy="286756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9784080" y="4215384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Weak-signal ready</a:t>
            </a:r>
            <a:endParaRPr lang="en-US" sz="1250" dirty="0"/>
          </a:p>
        </p:txBody>
      </p:sp>
      <p:sp>
        <p:nvSpPr>
          <p:cNvPr id="47" name="Shape 39"/>
          <p:cNvSpPr/>
          <p:nvPr/>
        </p:nvSpPr>
        <p:spPr>
          <a:xfrm>
            <a:off x="6309360" y="5202936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8" name="tile-eye"/>
          <p:cNvSpPr/>
          <p:nvPr/>
        </p:nvSpPr>
        <p:spPr>
          <a:xfrm>
            <a:off x="6446520" y="535838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49" name="Image 6" descr="ey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174" y="5471038"/>
            <a:ext cx="286756" cy="286756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7086600" y="520293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Colour-blind safe</a:t>
            </a:r>
            <a:endParaRPr lang="en-US" sz="1250" dirty="0"/>
          </a:p>
        </p:txBody>
      </p:sp>
      <p:sp>
        <p:nvSpPr>
          <p:cNvPr id="51" name="Shape 42"/>
          <p:cNvSpPr/>
          <p:nvPr/>
        </p:nvSpPr>
        <p:spPr>
          <a:xfrm>
            <a:off x="9006840" y="5202936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2" name="tile-ear"/>
          <p:cNvSpPr/>
          <p:nvPr/>
        </p:nvSpPr>
        <p:spPr>
          <a:xfrm>
            <a:off x="9144000" y="535838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53" name="Image 7" descr="e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6654" y="5471038"/>
            <a:ext cx="286756" cy="286756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9784080" y="520293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Screen-reader ready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 you can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told us they double-check every government website. Saathi is designed so they can.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69494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lock-key"/>
          <p:cNvSpPr/>
          <p:nvPr/>
        </p:nvSpPr>
        <p:spPr>
          <a:xfrm>
            <a:off x="713232" y="23500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lock-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24707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28600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Consent before data moves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6060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share names who asks, what they get, why and until when — shaped by the DPDP Act, 2023.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82112"/>
            <a:ext cx="69494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eye"/>
          <p:cNvSpPr/>
          <p:nvPr/>
        </p:nvSpPr>
        <p:spPr>
          <a:xfrm>
            <a:off x="713232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1" name="Image 1" descr="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3" y="34582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27355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record of every access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59359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which officer opened your documents, when and why. Revoke with one switch.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69664"/>
            <a:ext cx="69494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receipt"/>
          <p:cNvSpPr/>
          <p:nvPr/>
        </p:nvSpPr>
        <p:spPr>
          <a:xfrm>
            <a:off x="713232" y="432511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6" name="Image 2" descr="receip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444581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26110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Proof you can verify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58114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ends with a reference you can check on the official portal.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157216"/>
            <a:ext cx="69494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prohibit"/>
          <p:cNvSpPr/>
          <p:nvPr/>
        </p:nvSpPr>
        <p:spPr>
          <a:xfrm>
            <a:off x="713232" y="531266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21" name="Image 3" descr="prohib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5433365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524865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ads. No dark patterns.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463040" y="55686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public service should never compete for your attention.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199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1633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to WCAG 2.1 AA, GIGW 3.0 and UX4G guidelines.</a:t>
            </a:r>
            <a:endParaRPr lang="en-US" sz="1050" dirty="0"/>
          </a:p>
        </p:txBody>
      </p:sp>
      <p:pic>
        <p:nvPicPr>
          <p:cNvPr id="25" name="Image 4" descr="Saathi prototype screen: ph_privac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965960"/>
            <a:ext cx="2229152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system — Bharat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Calm enough to trust with a pension, precise enough to feel world-class.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COLOUR WITH A JOB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F43B8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487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Chakra Navy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779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#1F43B8  ·  Actions, links, focus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2803C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3218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India Green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511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#12803C  ·  Verified, approved, done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FF8A1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950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Saffron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242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#FF8A1F  ·  Highlights — never body text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0B0D14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4681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974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#0B0D14  ·  Text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5413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705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#FFFFFF  ·  Every surface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2148840"/>
            <a:ext cx="3566160" cy="40233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754880" y="2331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TYPE ACROSS SCRIPTS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606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Aa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Precision.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520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520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3F4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நான் உதவலாம்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434340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Geist for Latin UI · Instrument Serif for one emotive word · Anek (Ek Type, an Indian foundry) for Indic headlines · Noto Sans for Indic body at 1.8 line-height (UX4G) · Tiro Devanagari for the wordmark.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21040" y="2148840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8" name="tile-flower-lotus"/>
          <p:cNvSpPr/>
          <p:nvPr/>
        </p:nvSpPr>
        <p:spPr>
          <a:xfrm>
            <a:off x="8458200" y="23317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9" name="Image 0" descr="flower-lo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901" y="2452421"/>
            <a:ext cx="307238" cy="30723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9144000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Kolam &amp; guilloche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9144000" y="25146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Imagery made in code — kolam line art and security linework. No stock photos, no maps.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321040" y="3172968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3" name="tile-shapes"/>
          <p:cNvSpPr/>
          <p:nvPr/>
        </p:nvSpPr>
        <p:spPr>
          <a:xfrm>
            <a:off x="8458200" y="335584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34" name="Image 1" descr="shap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901" y="3476549"/>
            <a:ext cx="307238" cy="307238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144000" y="3264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Phosphor, one family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9144000" y="353872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for chrome, duotone for tiles, fill for the active tab.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8321040" y="4197096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8" name="tile-wave-sine"/>
          <p:cNvSpPr/>
          <p:nvPr/>
        </p:nvSpPr>
        <p:spPr>
          <a:xfrm>
            <a:off x="8458200" y="4379976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39" name="Image 2" descr="wave-s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4500677"/>
            <a:ext cx="307238" cy="307238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9144000" y="42885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Motion with a reason</a:t>
            </a:r>
            <a:endParaRPr lang="en-US" sz="1250" dirty="0"/>
          </a:p>
        </p:txBody>
      </p:sp>
      <p:sp>
        <p:nvSpPr>
          <p:cNvPr id="41" name="Text 36"/>
          <p:cNvSpPr txBox="1"/>
          <p:nvPr/>
        </p:nvSpPr>
        <p:spPr>
          <a:xfrm>
            <a:off x="9144000" y="456285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motion under 300 ms, always interruptible; fades only for reduced motion.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8321040" y="5221224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3" name="tile-check-square"/>
          <p:cNvSpPr/>
          <p:nvPr/>
        </p:nvSpPr>
        <p:spPr>
          <a:xfrm>
            <a:off x="8458200" y="540410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44" name="Image 3" descr="check-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901" y="5524805"/>
            <a:ext cx="307238" cy="307238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9144000" y="53126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Contrast, tested</a:t>
            </a:r>
            <a:endParaRPr lang="en-US" sz="1250" dirty="0"/>
          </a:p>
        </p:txBody>
      </p:sp>
      <p:sp>
        <p:nvSpPr>
          <p:cNvPr id="46" name="Text 40"/>
          <p:cNvSpPr txBox="1"/>
          <p:nvPr/>
        </p:nvSpPr>
        <p:spPr>
          <a:xfrm>
            <a:off x="9144000" y="55869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text colour checked ≥ 4.5:1 against WCAG 2.1 AA in automated tests.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Information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tabs. A bare “Apply” tab asks “apply for what?” — so the centre of Saathi is the assistant.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56048" y="210312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0B0D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956048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  Saathi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1640" y="2880360"/>
            <a:ext cx="8823960" cy="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48" y="2606040"/>
            <a:ext cx="0" cy="27432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08960"/>
            <a:ext cx="2176272" cy="301752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house"/>
          <p:cNvSpPr/>
          <p:nvPr/>
        </p:nvSpPr>
        <p:spPr>
          <a:xfrm>
            <a:off x="749808" y="33101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11" name="Image 0" descr="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462" y="3422782"/>
            <a:ext cx="286756" cy="2867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89888" y="33101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95528" y="4160520"/>
            <a:ext cx="91440" cy="9144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ID card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5528" y="4645152"/>
            <a:ext cx="91440" cy="9144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0584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attention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5528" y="5129784"/>
            <a:ext cx="91440" cy="9144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05840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applications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95528" y="5614416"/>
            <a:ext cx="91440" cy="9144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05840" y="5495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Schemes for you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877056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88920" y="3108960"/>
            <a:ext cx="2176272" cy="301752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3" name="tile-compass"/>
          <p:cNvSpPr/>
          <p:nvPr/>
        </p:nvSpPr>
        <p:spPr>
          <a:xfrm>
            <a:off x="2990088" y="33101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4" name="Image 1" descr="comp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742" y="3422782"/>
            <a:ext cx="286756" cy="28675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630168" y="33101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Explore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3035808" y="4160520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324612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 moments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035808" y="4645152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324612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(42 flows)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3035808" y="5129784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3246120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Schemes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3035808" y="5614416"/>
            <a:ext cx="91440" cy="914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3246120" y="5495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Search, any language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117336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029200" y="3108960"/>
            <a:ext cx="2176272" cy="3017520"/>
          </a:xfrm>
          <a:prstGeom prst="roundRect">
            <a:avLst>
              <a:gd name="adj" fmla="val 6723"/>
            </a:avLst>
          </a:prstGeom>
          <a:solidFill>
            <a:srgbClr val="EEF2FC"/>
          </a:solidFill>
          <a:ln w="9525">
            <a:solidFill>
              <a:srgbClr val="B9C8F0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6" name="tile-sparkle"/>
          <p:cNvSpPr/>
          <p:nvPr/>
        </p:nvSpPr>
        <p:spPr>
          <a:xfrm>
            <a:off x="5230368" y="33101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37" name="Image 2" descr="spark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022" y="3422782"/>
            <a:ext cx="286756" cy="286756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5870448" y="33101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AI</a:t>
            </a:r>
            <a:endParaRPr lang="en-US" sz="1500" dirty="0"/>
          </a:p>
        </p:txBody>
      </p:sp>
      <p:sp>
        <p:nvSpPr>
          <p:cNvPr id="39" name="Shape 34"/>
          <p:cNvSpPr/>
          <p:nvPr/>
        </p:nvSpPr>
        <p:spPr>
          <a:xfrm>
            <a:off x="5276088" y="4160520"/>
            <a:ext cx="91440" cy="91440"/>
          </a:xfrm>
          <a:prstGeom prst="ellipse">
            <a:avLst/>
          </a:prstGeom>
          <a:solidFill>
            <a:srgbClr val="6D4AC8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548640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by voice or text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5276088" y="4645152"/>
            <a:ext cx="91440" cy="91440"/>
          </a:xfrm>
          <a:prstGeom prst="ellipse">
            <a:avLst/>
          </a:prstGeom>
          <a:solidFill>
            <a:srgbClr val="6D4AC8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548640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&amp; sources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5276088" y="5129784"/>
            <a:ext cx="91440" cy="91440"/>
          </a:xfrm>
          <a:prstGeom prst="ellipse">
            <a:avLst/>
          </a:prstGeom>
          <a:solidFill>
            <a:srgbClr val="6D4AC8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5486400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gate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5276088" y="5614416"/>
            <a:ext cx="91440" cy="91440"/>
          </a:xfrm>
          <a:prstGeom prst="ellipse">
            <a:avLst/>
          </a:prstGeom>
          <a:solidFill>
            <a:srgbClr val="6D4AC8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5486400" y="5495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 + receipt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8357616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7269480" y="3108960"/>
            <a:ext cx="2176272" cy="301752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9" name="tile-list-checks"/>
          <p:cNvSpPr/>
          <p:nvPr/>
        </p:nvSpPr>
        <p:spPr>
          <a:xfrm>
            <a:off x="7470648" y="33101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50" name="Image 3" descr="list-chec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302" y="3422782"/>
            <a:ext cx="286756" cy="286756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8110728" y="33101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Track</a:t>
            </a:r>
            <a:endParaRPr lang="en-US" sz="1500" dirty="0"/>
          </a:p>
        </p:txBody>
      </p:sp>
      <p:sp>
        <p:nvSpPr>
          <p:cNvPr id="52" name="Shape 46"/>
          <p:cNvSpPr/>
          <p:nvPr/>
        </p:nvSpPr>
        <p:spPr>
          <a:xfrm>
            <a:off x="7516368" y="4160520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772668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Applications</a:t>
            </a:r>
            <a:endParaRPr lang="en-US" sz="1150" dirty="0"/>
          </a:p>
        </p:txBody>
      </p:sp>
      <p:sp>
        <p:nvSpPr>
          <p:cNvPr id="54" name="Shape 48"/>
          <p:cNvSpPr/>
          <p:nvPr/>
        </p:nvSpPr>
        <p:spPr>
          <a:xfrm>
            <a:off x="7516368" y="4645152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772668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timeline</a:t>
            </a:r>
            <a:endParaRPr lang="en-US" sz="1150" dirty="0"/>
          </a:p>
        </p:txBody>
      </p:sp>
      <p:sp>
        <p:nvSpPr>
          <p:cNvPr id="56" name="Shape 50"/>
          <p:cNvSpPr/>
          <p:nvPr/>
        </p:nvSpPr>
        <p:spPr>
          <a:xfrm>
            <a:off x="7516368" y="5129784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57" name="Text 51"/>
          <p:cNvSpPr txBox="1"/>
          <p:nvPr/>
        </p:nvSpPr>
        <p:spPr>
          <a:xfrm>
            <a:off x="7726680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officers</a:t>
            </a:r>
            <a:endParaRPr lang="en-US" sz="1150" dirty="0"/>
          </a:p>
        </p:txBody>
      </p:sp>
      <p:sp>
        <p:nvSpPr>
          <p:cNvPr id="58" name="Shape 52"/>
          <p:cNvSpPr/>
          <p:nvPr/>
        </p:nvSpPr>
        <p:spPr>
          <a:xfrm>
            <a:off x="7516368" y="5614416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7726680" y="5495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“Why the delay?”</a:t>
            </a:r>
            <a:endParaRPr lang="en-US" sz="1150" dirty="0"/>
          </a:p>
        </p:txBody>
      </p:sp>
      <p:sp>
        <p:nvSpPr>
          <p:cNvPr id="60" name="Shape 54"/>
          <p:cNvSpPr/>
          <p:nvPr/>
        </p:nvSpPr>
        <p:spPr>
          <a:xfrm>
            <a:off x="10597896" y="2880360"/>
            <a:ext cx="0" cy="228600"/>
          </a:xfrm>
          <a:prstGeom prst="line">
            <a:avLst/>
          </a:prstGeom>
          <a:noFill/>
          <a:ln w="12700">
            <a:solidFill>
              <a:srgbClr val="D3D8E2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9509760" y="3108960"/>
            <a:ext cx="2176272" cy="301752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62" name="tile-user-circle"/>
          <p:cNvSpPr/>
          <p:nvPr/>
        </p:nvSpPr>
        <p:spPr>
          <a:xfrm>
            <a:off x="9710928" y="33101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63" name="Image 4" descr="user-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582" y="3422782"/>
            <a:ext cx="286756" cy="286756"/>
          </a:xfrm>
          <a:prstGeom prst="rect">
            <a:avLst/>
          </a:prstGeom>
        </p:spPr>
      </p:pic>
      <p:sp>
        <p:nvSpPr>
          <p:cNvPr id="64" name="Text 57"/>
          <p:cNvSpPr txBox="1"/>
          <p:nvPr/>
        </p:nvSpPr>
        <p:spPr>
          <a:xfrm>
            <a:off x="10351008" y="33101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</a:t>
            </a:r>
            <a:endParaRPr lang="en-US" sz="1500" dirty="0"/>
          </a:p>
        </p:txBody>
      </p:sp>
      <p:sp>
        <p:nvSpPr>
          <p:cNvPr id="65" name="Shape 58"/>
          <p:cNvSpPr/>
          <p:nvPr/>
        </p:nvSpPr>
        <p:spPr>
          <a:xfrm>
            <a:off x="9756648" y="4160520"/>
            <a:ext cx="91440" cy="9144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66" name="Text 59"/>
          <p:cNvSpPr txBox="1"/>
          <p:nvPr/>
        </p:nvSpPr>
        <p:spPr>
          <a:xfrm>
            <a:off x="996696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wallet</a:t>
            </a:r>
            <a:endParaRPr lang="en-US" sz="1150" dirty="0"/>
          </a:p>
        </p:txBody>
      </p:sp>
      <p:sp>
        <p:nvSpPr>
          <p:cNvPr id="67" name="Shape 60"/>
          <p:cNvSpPr/>
          <p:nvPr/>
        </p:nvSpPr>
        <p:spPr>
          <a:xfrm>
            <a:off x="9756648" y="4645152"/>
            <a:ext cx="91440" cy="9144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68" name="Text 61"/>
          <p:cNvSpPr txBox="1"/>
          <p:nvPr/>
        </p:nvSpPr>
        <p:spPr>
          <a:xfrm>
            <a:off x="996696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/ proxy</a:t>
            </a:r>
            <a:endParaRPr lang="en-US" sz="1150" dirty="0"/>
          </a:p>
        </p:txBody>
      </p:sp>
      <p:sp>
        <p:nvSpPr>
          <p:cNvPr id="69" name="Shape 62"/>
          <p:cNvSpPr/>
          <p:nvPr/>
        </p:nvSpPr>
        <p:spPr>
          <a:xfrm>
            <a:off x="9756648" y="5129784"/>
            <a:ext cx="91440" cy="9144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70" name="Text 63"/>
          <p:cNvSpPr txBox="1"/>
          <p:nvPr/>
        </p:nvSpPr>
        <p:spPr>
          <a:xfrm>
            <a:off x="9966960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dashboard</a:t>
            </a:r>
            <a:endParaRPr lang="en-US" sz="1150" dirty="0"/>
          </a:p>
        </p:txBody>
      </p:sp>
      <p:sp>
        <p:nvSpPr>
          <p:cNvPr id="71" name="Shape 64"/>
          <p:cNvSpPr/>
          <p:nvPr/>
        </p:nvSpPr>
        <p:spPr>
          <a:xfrm>
            <a:off x="9756648" y="5614416"/>
            <a:ext cx="91440" cy="9144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72" name="Text 65"/>
          <p:cNvSpPr txBox="1"/>
          <p:nvPr/>
        </p:nvSpPr>
        <p:spPr>
          <a:xfrm>
            <a:off x="9966960" y="5495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&amp; access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&amp;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static, fast, testable build — runs in any browser, no install, deployable to any city.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949440" cy="676656"/>
          </a:xfrm>
          <a:prstGeom prst="roundRect">
            <a:avLst>
              <a:gd name="adj" fmla="val 18919"/>
            </a:avLst>
          </a:prstGeom>
          <a:solidFill>
            <a:srgbClr val="EEF2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0428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214884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Experience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2697480" y="2148840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 · React 18 · TypeScript · Tailwind CSS · Framer Motion · Phosphor Icons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935224"/>
            <a:ext cx="6949440" cy="676656"/>
          </a:xfrm>
          <a:prstGeom prst="roundRect">
            <a:avLst>
              <a:gd name="adj" fmla="val 18919"/>
            </a:avLst>
          </a:prstGeom>
          <a:solidFill>
            <a:srgbClr val="FFF6E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9067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935224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Language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2697480" y="2935224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next-intl · 23 locale folders · per-script fonts and line-heights · 200 ms script swap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721608"/>
            <a:ext cx="6949440" cy="676656"/>
          </a:xfrm>
          <a:prstGeom prst="roundRect">
            <a:avLst>
              <a:gd name="adj" fmla="val 18919"/>
            </a:avLst>
          </a:prstGeom>
          <a:solidFill>
            <a:srgbClr val="ECF8F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87705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721608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Logic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2697480" y="3721608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Scripted agent: intents → missions → player · consent pause · side effects into app state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4507992"/>
            <a:ext cx="6949440" cy="676656"/>
          </a:xfrm>
          <a:prstGeom prst="roundRect">
            <a:avLst>
              <a:gd name="adj" fmla="val 18919"/>
            </a:avLst>
          </a:prstGeom>
          <a:solidFill>
            <a:srgbClr val="F3EFF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663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50799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D4A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Quality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2697480" y="4507992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Vitest: intent matching per language, sequencing, consent gate, contrast ratios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5294376"/>
            <a:ext cx="6949440" cy="676656"/>
          </a:xfrm>
          <a:prstGeom prst="roundRect">
            <a:avLst>
              <a:gd name="adj" fmla="val 18919"/>
            </a:avLst>
          </a:prstGeom>
          <a:solidFill>
            <a:srgbClr val="E8F6F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44982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529437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F7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Delivery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2697480" y="5294376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export on Hostinger · Lighthouse budget ≥ 90 perf / ≥ 95 a11y · no 3D libraries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7772400" y="2148840"/>
            <a:ext cx="3867912" cy="3886200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ext 18"/>
          <p:cNvSpPr txBox="1"/>
          <p:nvPr/>
        </p:nvSpPr>
        <p:spPr>
          <a:xfrm>
            <a:off x="8028432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ON INDIA STACK (CONCEPTUAL)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8046720" y="2788920"/>
            <a:ext cx="128016" cy="128016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302752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Aadhaar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955548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Proves it's you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264408"/>
            <a:ext cx="128016" cy="128016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302752" y="3172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DigiLocker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9555480" y="3172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Brings verified documents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046720" y="3739896"/>
            <a:ext cx="128016" cy="128016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302752" y="36484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UPI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9555480" y="36484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 fees and dues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8046720" y="4215384"/>
            <a:ext cx="128016" cy="128016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8302752" y="41239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Bhashini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9555480" y="41239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Speaks your language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8046720" y="4690872"/>
            <a:ext cx="128016" cy="128016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8302752" y="45994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Setu</a:t>
            </a:r>
            <a:endParaRPr lang="en-US" sz="1250" dirty="0"/>
          </a:p>
        </p:txBody>
      </p:sp>
      <p:sp>
        <p:nvSpPr>
          <p:cNvPr id="40" name="Text 33"/>
          <p:cNvSpPr txBox="1"/>
          <p:nvPr/>
        </p:nvSpPr>
        <p:spPr>
          <a:xfrm>
            <a:off x="9555480" y="4599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Talks to departments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8046720" y="5166360"/>
            <a:ext cx="128016" cy="128016"/>
          </a:xfrm>
          <a:prstGeom prst="ellipse">
            <a:avLst/>
          </a:prstGeom>
          <a:solidFill>
            <a:srgbClr val="12803C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8302752" y="5074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CPGRAMS</a:t>
            </a:r>
            <a:endParaRPr lang="en-US" sz="1250" dirty="0"/>
          </a:p>
        </p:txBody>
      </p:sp>
      <p:sp>
        <p:nvSpPr>
          <p:cNvPr id="43" name="Text 36"/>
          <p:cNvSpPr txBox="1"/>
          <p:nvPr/>
        </p:nvSpPr>
        <p:spPr>
          <a:xfrm>
            <a:off x="9555480" y="5074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Escalates complaints</a:t>
            </a:r>
            <a:endParaRPr lang="en-US" sz="1150" dirty="0"/>
          </a:p>
        </p:txBody>
      </p:sp>
      <p:sp>
        <p:nvSpPr>
          <p:cNvPr id="44" name="Text 37"/>
          <p:cNvSpPr txBox="1"/>
          <p:nvPr/>
        </p:nvSpPr>
        <p:spPr>
          <a:xfrm>
            <a:off x="8028432" y="5623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affiliated with these platforms.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here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ideas that set Saathi apart from today's government apps, including UMANG.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squares-four"/>
          <p:cNvSpPr/>
          <p:nvPr/>
        </p:nvSpPr>
        <p:spPr>
          <a:xfrm>
            <a:off x="804672" y="249631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squares-f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617013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4963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Life-moment bundling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200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baby brings birth certificate, JSY and Sukanya Samriddhi as one checklist.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224028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sparkle"/>
          <p:cNvSpPr/>
          <p:nvPr/>
        </p:nvSpPr>
        <p:spPr>
          <a:xfrm>
            <a:off x="4553712" y="249631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11" name="Image 1" descr="spark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413" y="261701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24963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agent with a consent gate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3200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Plans, cites official sources and acts only after an explicit “yes”.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224028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translate"/>
          <p:cNvSpPr/>
          <p:nvPr/>
        </p:nvSpPr>
        <p:spPr>
          <a:xfrm>
            <a:off x="8302752" y="249631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6" name="Image 2" descr="transl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53" y="261701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24963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Vernacular-first, not translated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02752" y="3200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in Hindi and Tamil first; the whole UI swaps script in 200 ms.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arrows-left-right"/>
          <p:cNvSpPr/>
          <p:nvPr/>
        </p:nvSpPr>
        <p:spPr>
          <a:xfrm>
            <a:off x="804672" y="446227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21" name="Image 3" descr="arrows-left-r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58297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4622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Both sides of the counter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166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 consoles push decisions to the citizen's app, live and in their language.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420624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ile-eye"/>
          <p:cNvSpPr/>
          <p:nvPr/>
        </p:nvSpPr>
        <p:spPr>
          <a:xfrm>
            <a:off x="4553712" y="446227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26" name="Image 4" descr="ey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4582973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4622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Visible data access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53712" y="5166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privacy dashboard shows who opened your documents — revoke in one tap.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420624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0" name="tile-users"/>
          <p:cNvSpPr/>
          <p:nvPr/>
        </p:nvSpPr>
        <p:spPr>
          <a:xfrm>
            <a:off x="8302752" y="446227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31" name="Image 5" descr="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453" y="4582973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44622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Proxy as a first-class action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02752" y="5166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 a parent or child with a persistent “helping Sunita” banner.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 — Viksit Bharat &amp; the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SDGs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measured by the lives it changes — Garib, Yuva, Annadata and Nari.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359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गरीब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926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Garib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Entitlements find people. Ramesh, 67, has his life certificate submitted by his son — no queue, no agent.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2194560"/>
            <a:ext cx="260604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2359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युवा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26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Yuva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Ananya renews her driving licence on a twenty-minute train ride.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2194560"/>
            <a:ext cx="260604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19088" y="2359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अन्नदाता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2926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Annadata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Sunita asks out loud and hears her PM-KISAN instalment status read back.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0264" y="2194560"/>
            <a:ext cx="260604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26296" y="2359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नारी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926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Nari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Aanya is born, the certificate, JSY and Sukanya Samriddhi arrive together.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SUSTAINABLE DEVELOPMENT GOALS SERVED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2606040" cy="9144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525780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FF8A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257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SDG 11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074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Sustainable cities &amp; communities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55848" y="5074920"/>
            <a:ext cx="2606040" cy="9144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0440" y="525780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1F43B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20440" y="5257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SDG 16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498848" y="5074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Strong, accountable institutions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3056" y="5074920"/>
            <a:ext cx="2606040" cy="9144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327648" y="525780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C832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27648" y="5257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SDG 10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306056" y="5074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Reduced inequalities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70264" y="5074920"/>
            <a:ext cx="2606040" cy="9144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/>
        </p:spPr>
      </p:sp>
      <p:sp>
        <p:nvSpPr>
          <p:cNvPr id="34" name="Shape 32"/>
          <p:cNvSpPr/>
          <p:nvPr/>
        </p:nvSpPr>
        <p:spPr>
          <a:xfrm>
            <a:off x="9134856" y="525780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12803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34856" y="5257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SDG 9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13264" y="5074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Innovation &amp; infrastructure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we'd know it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targets for a pilot — not results — and the plan to prove them.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min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96265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apply for a birth certificate, from a first tap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0604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90%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96265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 key flow without help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0604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19088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96265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submissions or payments without consent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0604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6296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in 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96265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 filled by voice, low-literacy users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44068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7" name="tile-users-three"/>
          <p:cNvSpPr/>
          <p:nvPr/>
        </p:nvSpPr>
        <p:spPr>
          <a:xfrm>
            <a:off x="713232" y="4288536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18" name="Image 0" descr="users-th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4409237"/>
            <a:ext cx="307238" cy="30723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44752" y="42062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Usability testing in three states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1444752" y="453542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Moderated sessions with each persona, in their language, on their own phones.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72200" y="4114800"/>
            <a:ext cx="544068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2" name="tile-translate"/>
          <p:cNvSpPr/>
          <p:nvPr/>
        </p:nvSpPr>
        <p:spPr>
          <a:xfrm>
            <a:off x="6336792" y="4288536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3" name="Image 1" descr="trans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493" y="4409237"/>
            <a:ext cx="307238" cy="30723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068312" y="42062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Native-language review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7068312" y="453542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language reviewed by native speakers — the 13 machine-assisted first.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5138928"/>
            <a:ext cx="544068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7" name="tile-person-arms-spread"/>
          <p:cNvSpPr/>
          <p:nvPr/>
        </p:nvSpPr>
        <p:spPr>
          <a:xfrm>
            <a:off x="713232" y="531266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28" name="Image 2" descr="person-arms-spre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5433365"/>
            <a:ext cx="307238" cy="30723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44752" y="52303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Independent accessibility audit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1444752" y="55595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 reader, keyboard, low vision, cognitive load — WCAG 2.1 AA, GIGW 3.0.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172200" y="5138928"/>
            <a:ext cx="544068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2" name="tile-bug"/>
          <p:cNvSpPr/>
          <p:nvPr/>
        </p:nvSpPr>
        <p:spPr>
          <a:xfrm>
            <a:off x="6336792" y="531266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33" name="Image 3" descr="b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493" y="5433365"/>
            <a:ext cx="307238" cy="30723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068312" y="52303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Assistant red-teaming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7068312" y="55595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to make Saathi submit, pay or share without consent — fix every path.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Roadmap to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2047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 working prototype to a companion for every citizen. Future milestones are design targets.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3063240"/>
            <a:ext cx="10607040" cy="0"/>
          </a:xfrm>
          <a:prstGeom prst="line">
            <a:avLst/>
          </a:prstGeom>
          <a:noFill/>
          <a:ln w="19050">
            <a:solidFill>
              <a:srgbClr val="D3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926080"/>
            <a:ext cx="274320" cy="274320"/>
          </a:xfrm>
          <a:prstGeom prst="ellipse">
            <a:avLst/>
          </a:prstGeom>
          <a:solidFill>
            <a:srgbClr val="1F43B8"/>
          </a:solidFill>
          <a:ln w="25400">
            <a:solidFill>
              <a:srgbClr val="1F43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2103120" cy="2011680"/>
          </a:xfrm>
          <a:prstGeom prst="roundRect">
            <a:avLst>
              <a:gd name="adj" fmla="val 7273"/>
            </a:avLst>
          </a:prstGeom>
          <a:solidFill>
            <a:srgbClr val="EEF2FC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6393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Saathi, designed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062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door to every service, as a working prototype.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53512" y="2926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3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788920" y="3474720"/>
            <a:ext cx="210312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71800" y="36393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City pilot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42062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smart city: municipal, RTO and health desks live.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71800" y="50749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71800" y="50749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target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93792" y="2926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3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029200" y="3474720"/>
            <a:ext cx="210312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212080" y="36393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Pilot in three states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42062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with the people it's for, in their languages.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212080" y="50749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12080" y="50749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target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34072" y="2926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3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2040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7269480" y="3474720"/>
            <a:ext cx="210312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452360" y="36393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district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42062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22 scheduled languages, online and offline.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52360" y="50749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52360" y="50749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target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74352" y="2926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3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0976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2047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9509760" y="3474720"/>
            <a:ext cx="210312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692640" y="36393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Viksit Bharat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692640" y="42062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government that feels like a companion.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692640" y="50749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50749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target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3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model (proposed): a city-by-city rollout through municipal corporations, built on India Stack — a static front end any city can host.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demo — three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minutes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walkthrough for judges. Everything in the prototype works.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749808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ile-translate"/>
          <p:cNvSpPr/>
          <p:nvPr/>
        </p:nvSpPr>
        <p:spPr>
          <a:xfrm>
            <a:off x="1261872" y="22585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7" name="Image 0" descr="trans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3591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22128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Onboard in Hindi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4963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हिन्दी — the whole app re-typesets instantly. Approve the consent screen.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935224"/>
            <a:ext cx="749808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293522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ile-sparkle"/>
          <p:cNvSpPr/>
          <p:nvPr/>
        </p:nvSpPr>
        <p:spPr>
          <a:xfrm>
            <a:off x="1261872" y="30449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13" name="Image 1" descr="spark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31455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874520" y="299923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Saathi for a birth certificate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874520" y="32826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it plan, cite DigiLocker and e-District, then wait for your Approve.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721608"/>
            <a:ext cx="749808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ile-currency-inr"/>
          <p:cNvSpPr/>
          <p:nvPr/>
        </p:nvSpPr>
        <p:spPr>
          <a:xfrm>
            <a:off x="1261872" y="38313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9" name="Image 2" descr="currency-in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393192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74520" y="378561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 property tax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1874520" y="40690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Dues fetched, UPI consent, a verifiable receipt with a reference number.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507992"/>
            <a:ext cx="749808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31520" y="4507992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ile-buildings"/>
          <p:cNvSpPr/>
          <p:nvPr/>
        </p:nvSpPr>
        <p:spPr>
          <a:xfrm>
            <a:off x="1261872" y="46177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25" name="Image 3" descr="buildin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" y="471830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874520" y="45720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Switch to the department console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1874520" y="485546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the case as Nagar Nigam — see the citizen's Track update live.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5294376"/>
            <a:ext cx="7498080" cy="676656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731520" y="5294376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ile-shield-check"/>
          <p:cNvSpPr/>
          <p:nvPr/>
        </p:nvSpPr>
        <p:spPr>
          <a:xfrm>
            <a:off x="1261872" y="54041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31" name="Image 4" descr="shield-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56" y="5504688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874520" y="535838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Revoke a consent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1874520" y="56418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privacy dashboard, see who accessed your data, switch it off.</a:t>
            </a:r>
            <a:endParaRPr lang="en-US" sz="1100" dirty="0"/>
          </a:p>
        </p:txBody>
      </p:sp>
      <p:pic>
        <p:nvPicPr>
          <p:cNvPr id="34" name="Image 5" descr="Saathi prototype screen: ph_h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1965960"/>
            <a:ext cx="2229152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Conclusion &amp; future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 city is judged at its counters. Saathi puts one door in front of all of them.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577840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240280"/>
            <a:ext cx="548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4231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788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Hundreds of disconnected apps; language, trust and “where do I start?”.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577840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566160"/>
            <a:ext cx="548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749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answer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door organised by life, an agent that asks first, both sides of the counter.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5577840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892040"/>
            <a:ext cx="548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074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proof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440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prototype: 42 processes, 17 languages, 15 consoles, 6 AI missions.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240280"/>
            <a:ext cx="5239512" cy="3831336"/>
          </a:xfrm>
          <a:prstGeom prst="roundRect">
            <a:avLst>
              <a:gd name="adj" fmla="val 3819"/>
            </a:avLst>
          </a:prstGeom>
          <a:solidFill>
            <a:srgbClr val="EEF2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2423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FUTURE SCOPE</a:t>
            </a:r>
            <a:endParaRPr lang="en-US" sz="10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898648"/>
            <a:ext cx="201168" cy="1828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022592" y="2834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8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Aadhaar, UPI and DigiLocker integrations</a:t>
            </a:r>
            <a:endParaRPr lang="en-US" sz="12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520440"/>
            <a:ext cx="201168" cy="1828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22592" y="34564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8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 recognition in every language via Bhashini</a:t>
            </a:r>
            <a:endParaRPr lang="en-US" sz="12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142232"/>
            <a:ext cx="201168" cy="1828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22592" y="407822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8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Offline-first data layer for weak networks</a:t>
            </a:r>
            <a:endParaRPr lang="en-US" sz="12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764024"/>
            <a:ext cx="201168" cy="1828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22592" y="470001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8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review of all 17 languages; the other 6 added</a:t>
            </a:r>
            <a:endParaRPr lang="en-US" sz="12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5385816"/>
            <a:ext cx="201168" cy="1828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022592" y="53218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8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pilot with a municipal corporation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</a:t>
            </a:r>
            <a:pPr algn="l" indent="0" marL="0">
              <a:buNone/>
            </a:pPr>
            <a:r>
              <a:rPr lang="en-US" sz="40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Questions?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DE5F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 — your companion for every government service.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3749040"/>
            <a:ext cx="6035040" cy="2148840"/>
          </a:xfrm>
          <a:prstGeom prst="roundRect">
            <a:avLst>
              <a:gd name="adj" fmla="val 6809"/>
            </a:avLst>
          </a:prstGeom>
          <a:solidFill>
            <a:srgbClr val="10286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" y="3931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EXPO 2026 · CHANDIGARH UNIVERSITY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42245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Krishom Sharma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 (UI/UX Designs)  ·  UID 24BCU10002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4983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UIC — University Institute of Computing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ID  CUPE4-ENT-UIC-157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athi Bharat Precision">
  <a:themeElements>
    <a:clrScheme name="Saathi Bharat Precision">
      <a:dk1>
        <a:srgbClr val="0B0D14"/>
      </a:dk1>
      <a:lt1>
        <a:srgbClr val="FFFFFF"/>
      </a:lt1>
      <a:dk2>
        <a:srgbClr val="0A1C54"/>
      </a:dk2>
      <a:lt2>
        <a:srgbClr val="F7F8FA"/>
      </a:lt2>
      <a:accent1>
        <a:srgbClr val="1F43B8"/>
      </a:accent1>
      <a:accent2>
        <a:srgbClr val="FF8A1F"/>
      </a:accent2>
      <a:accent3>
        <a:srgbClr val="12803C"/>
      </a:accent3>
      <a:accent4>
        <a:srgbClr val="5577E0"/>
      </a:accent4>
      <a:accent5>
        <a:srgbClr val="B45309"/>
      </a:accent5>
      <a:accent6>
        <a:srgbClr val="626978"/>
      </a:accent6>
      <a:hlink>
        <a:srgbClr val="1F43B8"/>
      </a:hlink>
      <a:folHlink>
        <a:srgbClr val="16338F"/>
      </a:folHlink>
    </a:clrScheme>
    <a:fontScheme name="Saathi Bharat Precision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 — Smart City Citizen Services App · Project Expo 2026</dc:title>
  <dc:subject>Project Expo 2026 · Chandigarh University · CUPE4-ENT-UIC-157</dc:subject>
  <dc:creator>Krishom Sharma</dc:creator>
  <cp:lastModifiedBy>Krishom Sharma</cp:lastModifiedBy>
  <cp:revision>1</cp:revision>
  <dcterms:created xsi:type="dcterms:W3CDTF">2026-10-05T04:57:16Z</dcterms:created>
  <dcterms:modified xsi:type="dcterms:W3CDTF">2026-10-05T04:57:16Z</dcterms:modified>
</cp:coreProperties>
</file>
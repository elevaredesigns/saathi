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97ca092-79da-3fdc-9d45-0b3724eba82b}">
          <p14:sldIdLst>
            <p14:sldId id="256"/>
          </p14:sldIdLst>
        </p14:section>
        <p14:section name="Hook" id="{ac39c928-3192-a546-ca8c-dbbcee846307}">
          <p14:sldIdLst>
            <p14:sldId id="257"/>
          </p14:sldIdLst>
        </p14:section>
        <p14:section name="Problem" id="{09404a9b-c1d6-b6a0-232a-00cecd844502}">
          <p14:sldIdLst>
            <p14:sldId id="258"/>
            <p14:sldId id="259"/>
          </p14:sldIdLst>
        </p14:section>
        <p14:section name="Solution" id="{fc5b8ee8-4d8b-ad9c-d781-5662185184da}">
          <p14:sldIdLst>
            <p14:sldId id="260"/>
            <p14:sldId id="261"/>
          </p14:sldIdLst>
        </p14:section>
        <p14:section name="Design" id="{20df97ed-467d-cfe7-45bb-36100f8393f0}">
          <p14:sldIdLst>
            <p14:sldId id="262"/>
            <p14:sldId id="263"/>
            <p14:sldId id="264"/>
            <p14:sldId id="265"/>
          </p14:sldIdLst>
        </p14:section>
        <p14:section name="Innovation" id="{08f9b87c-b7ac-5004-ff7b-7cc3b0f1eb1d}">
          <p14:sldIdLst>
            <p14:sldId id="266"/>
            <p14:sldId id="267"/>
          </p14:sldIdLst>
        </p14:section>
        <p14:section name="Feasibility" id="{2548560f-68b2-9422-84c2-2e57ae01442f}">
          <p14:sldIdLst>
            <p14:sldId id="268"/>
            <p14:sldId id="269"/>
          </p14:sldIdLst>
        </p14:section>
        <p14:section name="Impact" id="{92b2246c-19e3-57fc-65b8-ec17e5288a5c}">
          <p14:sldIdLst>
            <p14:sldId id="270"/>
          </p14:sldIdLst>
        </p14:section>
        <p14:section name="Demo" id="{f62b5e43-a12b-2158-5239-3e132802c4ac}">
          <p14:sldIdLst>
            <p14:sldId id="271"/>
          </p14:sldIdLst>
        </p14:section>
        <p14:section name="Close" id="{fa6b52d2-1ad6-9a63-ecac-9051ddd69b8e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1112" y="2834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HACK-O-OCTO 4.0  ·  OPEN INNOVATION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indent="0" marL="0">
              <a:buNone/>
            </a:pP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DARK">
    <p:bg>
      <p:bgPr>
        <a:solidFill>
          <a:srgbClr val="0A1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9184"/>
            <a:ext cx="329184" cy="2542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468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627632" y="246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City Citizen Services App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64190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Krishom Sharma  ·  BCA (UI/UX Designs)  ·  UID 24BCU10002  ·  UIC</a:t>
            </a:r>
            <a:endParaRPr lang="en-US" sz="95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ATH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line-art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0"/>
            <a:ext cx="6583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8A1F"/>
          </a:solidFill>
          <a:ln/>
        </p:spPr>
      </p:sp>
      <p:sp>
        <p:nvSpPr>
          <p:cNvPr id="4" name="Shape 1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 w="6350">
            <a:solidFill>
              <a:srgbClr val="E6E8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57443" y="-10973"/>
            <a:ext cx="76810" cy="76810"/>
          </a:xfrm>
          <a:prstGeom prst="ellipse">
            <a:avLst/>
          </a:prstGeom>
          <a:solidFill>
            <a:srgbClr val="1F43B8"/>
          </a:solidFill>
          <a:ln/>
        </p:spPr>
      </p:sp>
      <p:sp>
        <p:nvSpPr>
          <p:cNvPr id="6" name="Shape 3"/>
          <p:cNvSpPr/>
          <p:nvPr/>
        </p:nvSpPr>
        <p:spPr>
          <a:xfrm>
            <a:off x="8127797" y="0"/>
            <a:ext cx="4063898" cy="54864"/>
          </a:xfrm>
          <a:prstGeom prst="rect">
            <a:avLst/>
          </a:prstGeom>
          <a:solidFill>
            <a:srgbClr val="12803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57200" cy="3529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219456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spc="3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EEF2FC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" y="1417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633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Hack-O-Octo 4.0  ·  Chandigarh University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1874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Hack-O-Octo 4.0  ·  Open Innovation Challenge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28600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door to every
</a:t>
            </a:r>
            <a:pPr indent="0" marL="0">
              <a:lnSpc>
                <a:spcPct val="95000"/>
              </a:lnSpc>
              <a:buNone/>
            </a:pPr>
            <a:r>
              <a:rPr lang="en-US" sz="44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service.</a:t>
            </a:r>
            <a:pPr indent="0" marL="0">
              <a:lnSpc>
                <a:spcPct val="95000"/>
              </a:lnSpc>
              <a:buNone/>
            </a:pPr>
            <a:endParaRPr lang="en-US" sz="4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400507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— a smart-city citizen services app with an AI assistant that asks before it acts. Our Open Innovation entry.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" y="4846320"/>
            <a:ext cx="603504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96112" y="5010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96112" y="5266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Krishom Sharma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96112" y="5650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(UI/UX Designs)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96112" y="58887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UID — 24BCU10002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977640" y="5074920"/>
            <a:ext cx="0" cy="96012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206240" y="5010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206240" y="5266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UIC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206240" y="56509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Institute of Computing</a:t>
            </a:r>
            <a:endParaRPr lang="en-US" sz="1200" dirty="0"/>
          </a:p>
        </p:txBody>
      </p:sp>
      <p:pic>
        <p:nvPicPr>
          <p:cNvPr id="24" name="Image 2" descr="Saathi prototype screen: ph_mo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02920"/>
            <a:ext cx="3003490" cy="58521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06640" y="6446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AA0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design concept. Not affiliated with the Government of India.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BABY IS BORN IN KANPUR</a:t>
            </a:r>
            <a:endParaRPr lang="en-US" sz="105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services. 6 portals.
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tired parent.</a:t>
            </a:r>
            <a:pPr algn="l" indent="0" marL="0">
              <a:buNone/>
            </a:pP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886200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10286F"/>
          </a:solidFill>
          <a:ln w="9525">
            <a:solidFill>
              <a:srgbClr val="1633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Birth certificate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e-District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3886200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10286F"/>
          </a:solidFill>
          <a:ln w="9525">
            <a:solidFill>
              <a:srgbClr val="1633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Ayushman card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ABHA / PM-JAY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3886200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10286F"/>
          </a:solidFill>
          <a:ln w="9525">
            <a:solidFill>
              <a:srgbClr val="1633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e-Aadhaar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myAadhaar · UIDAI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10286F"/>
          </a:solidFill>
          <a:ln w="9525">
            <a:solidFill>
              <a:srgbClr val="1633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Janani Suraksha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Department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4754880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10286F"/>
          </a:solidFill>
          <a:ln w="9525">
            <a:solidFill>
              <a:srgbClr val="1633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Sukanya Samriddhi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 / Post Office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4754880"/>
            <a:ext cx="2560320" cy="731520"/>
          </a:xfrm>
          <a:prstGeom prst="roundRect">
            <a:avLst>
              <a:gd name="adj" fmla="val 17500"/>
            </a:avLst>
          </a:prstGeom>
          <a:solidFill>
            <a:srgbClr val="10286F"/>
          </a:solidFill>
          <a:ln w="9525">
            <a:solidFill>
              <a:srgbClr val="1633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Matru Vandana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Women &amp; Child Dev.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52560" y="3886200"/>
            <a:ext cx="2587752" cy="1600200"/>
          </a:xfrm>
          <a:prstGeom prst="roundRect">
            <a:avLst>
              <a:gd name="adj" fmla="val 10286"/>
            </a:avLst>
          </a:prstGeom>
          <a:solidFill>
            <a:srgbClr val="FF8A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81160" y="4041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A1C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 Saathi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4389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0A1C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checklist.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A1C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login, one language, one door.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six services of the “A new baby” life moment, as modelled in the Saathi prototype.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isn't missing services. It's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maze.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 built the rails of a digital state. Citizens still can't find the front door.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1737360" cy="17830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fingerprint"/>
          <p:cNvSpPr/>
          <p:nvPr/>
        </p:nvSpPr>
        <p:spPr>
          <a:xfrm>
            <a:off x="731520" y="24231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fingerpr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81" y="25197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142 crore+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 numbers issued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23160" y="2240280"/>
            <a:ext cx="1737360" cy="17830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currency-inr"/>
          <p:cNvSpPr/>
          <p:nvPr/>
        </p:nvSpPr>
        <p:spPr>
          <a:xfrm>
            <a:off x="2606040" y="24231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currency-in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601" y="251972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0604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23.2 billion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60604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payments in May 2026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297680" y="2240280"/>
            <a:ext cx="1737360" cy="17830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folder-lock"/>
          <p:cNvSpPr/>
          <p:nvPr/>
        </p:nvSpPr>
        <p:spPr>
          <a:xfrm>
            <a:off x="4480560" y="24231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folder-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121" y="251972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480560" y="29992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 crore+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480560" y="3429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DigiLocker accounts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rails are built →</a:t>
            </a:r>
            <a:endParaRPr lang="en-US" sz="1500" dirty="0"/>
          </a:p>
        </p:txBody>
      </p:sp>
      <p:sp>
        <p:nvSpPr>
          <p:cNvPr id="20" name="tile-translate"/>
          <p:cNvSpPr/>
          <p:nvPr/>
        </p:nvSpPr>
        <p:spPr>
          <a:xfrm>
            <a:off x="548640" y="45537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1" name="Image 3" descr="transl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4646249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0" y="45354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2514600" y="4535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Forms fall back to English.</a:t>
            </a:r>
            <a:endParaRPr lang="en-US" sz="1200" dirty="0"/>
          </a:p>
        </p:txBody>
      </p:sp>
      <p:sp>
        <p:nvSpPr>
          <p:cNvPr id="24" name="tile-shield-warning"/>
          <p:cNvSpPr/>
          <p:nvPr/>
        </p:nvSpPr>
        <p:spPr>
          <a:xfrm>
            <a:off x="548640" y="510235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25" name="Image 4" descr="shield-warn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77" y="5194889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97280" y="50840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2514600" y="5084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portals, paid middlemen.</a:t>
            </a:r>
            <a:endParaRPr lang="en-US" sz="1200" dirty="0"/>
          </a:p>
        </p:txBody>
      </p:sp>
      <p:sp>
        <p:nvSpPr>
          <p:cNvPr id="28" name="tile-signpost"/>
          <p:cNvSpPr/>
          <p:nvPr/>
        </p:nvSpPr>
        <p:spPr>
          <a:xfrm>
            <a:off x="548640" y="565099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29" name="Image 5" descr="signpo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77" y="5743529"/>
            <a:ext cx="235549" cy="23554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7280" y="5632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to start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2514600" y="56327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 by department, not by life.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263640" y="2240280"/>
            <a:ext cx="5376672" cy="388620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653796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200" dirty="0">
                <a:solidFill>
                  <a:srgbClr val="FF8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4" name="Text 26"/>
          <p:cNvSpPr txBox="1"/>
          <p:nvPr/>
        </p:nvSpPr>
        <p:spPr>
          <a:xfrm>
            <a:off x="6537960" y="30632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मुझे पता है कि सब online है, but मुझे ये नहीं पता कि कौन सा online असली है.</a:t>
            </a:r>
            <a:endParaRPr lang="en-US" sz="1900" dirty="0"/>
          </a:p>
        </p:txBody>
      </p:sp>
      <p:sp>
        <p:nvSpPr>
          <p:cNvPr id="35" name="Text 27"/>
          <p:cNvSpPr txBox="1"/>
          <p:nvPr/>
        </p:nvSpPr>
        <p:spPr>
          <a:xfrm>
            <a:off x="6537960" y="4251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know everything's online — I just don't know which ‘online’ is the real one.”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6537960" y="5212080"/>
            <a:ext cx="4846320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6537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Rakesh, 34 — shopkeeper, Kanpur  ·  user research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we're building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personas from conversations in cities, small towns and villages.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06040" cy="384048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51460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RV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Rakesh, 34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Tier-2 · Kanpur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C832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537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Burned by fake portals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5394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he can verify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55848" y="2240280"/>
            <a:ext cx="2606040" cy="384048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11880" y="2514600"/>
            <a:ext cx="777240" cy="777240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118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Sunita, 29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· Bihar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C832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45537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literacy, one shared phone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5394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 + read-aloud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3056" y="2240280"/>
            <a:ext cx="2606040" cy="384048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088" y="2514600"/>
            <a:ext cx="777240" cy="777240"/>
          </a:xfrm>
          <a:prstGeom prst="ellipse">
            <a:avLst/>
          </a:prstGeom>
          <a:solidFill>
            <a:srgbClr val="ECF8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9088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128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Vikram, 68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· Chennai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C832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45537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Prefers Tamil, needs time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5394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Large text, slow mode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70264" y="2240280"/>
            <a:ext cx="2606040" cy="384048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26296" y="2514600"/>
            <a:ext cx="777240" cy="777240"/>
          </a:xfrm>
          <a:prstGeom prst="ellipse">
            <a:avLst/>
          </a:prstGeom>
          <a:solidFill>
            <a:srgbClr val="F3EF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226296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6D4A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9226296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Ananya, 26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226296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· Bengaluru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26296" y="4297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C832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226296" y="455371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patience for friction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226296" y="5138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26296" y="5394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Done in 2 minutes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— one door, organised around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smart-city citizen app that starts from what's happening to you, not from a department.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76809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squares-four"/>
          <p:cNvSpPr/>
          <p:nvPr/>
        </p:nvSpPr>
        <p:spPr>
          <a:xfrm>
            <a:off x="713232" y="235000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squares-f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4707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2860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Life moments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6334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birth, a job, a move — every department involved, as one checklist.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182112"/>
            <a:ext cx="76809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sparkle"/>
          <p:cNvSpPr/>
          <p:nvPr/>
        </p:nvSpPr>
        <p:spPr>
          <a:xfrm>
            <a:off x="713232" y="33375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11" name="Image 1" descr="spark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33" y="34582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27355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AI agent that asks first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6210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 it what you need; it plans, cites sources, takes consent, then acts.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9664"/>
            <a:ext cx="76809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translate"/>
          <p:cNvSpPr/>
          <p:nvPr/>
        </p:nvSpPr>
        <p:spPr>
          <a:xfrm>
            <a:off x="713232" y="43251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6" name="Image 2" descr="trans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44458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2611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language, your voice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60857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languages live, voice on every field, read-aloud and slow mode.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57216"/>
            <a:ext cx="768096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buildings"/>
          <p:cNvSpPr/>
          <p:nvPr/>
        </p:nvSpPr>
        <p:spPr>
          <a:xfrm>
            <a:off x="713232" y="531266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1" name="Image 3" descr="buildin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5433365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524865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sides of the counter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463040" y="55961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department consoles push decisions to the citizen, live.</a:t>
            </a:r>
            <a:endParaRPr lang="en-US" sz="1200" dirty="0"/>
          </a:p>
        </p:txBody>
      </p:sp>
      <p:pic>
        <p:nvPicPr>
          <p:cNvPr id="24" name="Image 4" descr="Saathi prototype screen: ph_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965960"/>
            <a:ext cx="2229152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flow — Saathi AI asks before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 asks for his daughter's birth certificate, in Hindi. Four steps, one consent, real proof.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087368"/>
            <a:ext cx="146304" cy="1463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64992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593592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050792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408736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1344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0A1C54"/>
          </a:solidFill>
          <a:ln w="9525">
            <a:solidFill>
              <a:srgbClr val="0A1C54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09944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867144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4087368"/>
            <a:ext cx="146304" cy="1463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97696" y="2103120"/>
            <a:ext cx="2633472" cy="4114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9226296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683496" y="2304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77240" y="2788920"/>
            <a:ext cx="2176272" cy="1051560"/>
          </a:xfrm>
          <a:prstGeom prst="roundRect">
            <a:avLst>
              <a:gd name="adj" fmla="val 13913"/>
            </a:avLst>
          </a:prstGeom>
          <a:solidFill>
            <a:srgbClr val="1F43B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27889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मेरी बेटी का जन्म प्रमाणपत्र बनवाना है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3977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3A3F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need to get my daughter's birth certificate”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0B0D1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020056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846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voice or text, in any of 17 languages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77977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93192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the hospital birth record from DigiLocker</a:t>
            </a:r>
            <a:endParaRPr lang="en-US" sz="11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3493008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931920" y="3456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Form 1 for e-District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420624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931920" y="416966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Janani Suraksha Yojana eligibility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491947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3931920" y="488289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to Nagar Nigam, Kanpur</a:t>
            </a:r>
            <a:endParaRPr lang="en-US" sz="1150" dirty="0"/>
          </a:p>
        </p:txBody>
      </p:sp>
      <p:sp>
        <p:nvSpPr>
          <p:cNvPr id="33" name="Text 23"/>
          <p:cNvSpPr txBox="1"/>
          <p:nvPr/>
        </p:nvSpPr>
        <p:spPr>
          <a:xfrm>
            <a:off x="3593592" y="5669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1633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names its official source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6409944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with Nagar Nigam, Kanpur?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42900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11696" y="3383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name and address</a:t>
            </a:r>
            <a:endParaRPr lang="en-US" sz="11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3840480"/>
            <a:ext cx="201168" cy="201168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6711696" y="3794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Aanya's hospital birth record</a:t>
            </a:r>
            <a:endParaRPr lang="en-US" sz="1150" dirty="0"/>
          </a:p>
        </p:txBody>
      </p:sp>
      <p:sp>
        <p:nvSpPr>
          <p:cNvPr id="39" name="Text 27"/>
          <p:cNvSpPr txBox="1"/>
          <p:nvPr/>
        </p:nvSpPr>
        <p:spPr>
          <a:xfrm>
            <a:off x="6409944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until the application closes</a:t>
            </a:r>
            <a:endParaRPr lang="en-US" sz="1050" dirty="0"/>
          </a:p>
        </p:txBody>
      </p:sp>
      <p:sp>
        <p:nvSpPr>
          <p:cNvPr id="40" name="Shape 28"/>
          <p:cNvSpPr/>
          <p:nvPr/>
        </p:nvSpPr>
        <p:spPr>
          <a:xfrm>
            <a:off x="6409944" y="475488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6409944" y="475488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A1C5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7644384" y="475488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0286F"/>
          </a:solidFill>
          <a:ln w="9525">
            <a:solidFill>
              <a:srgbClr val="2F55D4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7644384" y="4754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6409944" y="5486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FFB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leaves the phone without a yes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6296" y="2743200"/>
            <a:ext cx="457200" cy="45720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774936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submitted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9226296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3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SAA-2026-457029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9226296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Nair is reviewing it</a:t>
            </a:r>
            <a:endParaRPr lang="en-US" sz="1150" dirty="0"/>
          </a:p>
        </p:txBody>
      </p:sp>
      <p:sp>
        <p:nvSpPr>
          <p:cNvPr id="49" name="Text 36"/>
          <p:cNvSpPr txBox="1"/>
          <p:nvPr/>
        </p:nvSpPr>
        <p:spPr>
          <a:xfrm>
            <a:off x="9226296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expected in 7 days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9226296" y="4526280"/>
            <a:ext cx="2176272" cy="960120"/>
          </a:xfrm>
          <a:prstGeom prst="roundRect">
            <a:avLst>
              <a:gd name="adj" fmla="val 11429"/>
            </a:avLst>
          </a:prstGeom>
          <a:solidFill>
            <a:srgbClr val="FFF6EC"/>
          </a:solidFill>
          <a:ln/>
        </p:spPr>
      </p:sp>
      <p:sp>
        <p:nvSpPr>
          <p:cNvPr id="51" name="Text 38"/>
          <p:cNvSpPr txBox="1"/>
          <p:nvPr/>
        </p:nvSpPr>
        <p:spPr>
          <a:xfrm>
            <a:off x="9363456" y="452628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may also get ₹1,400 under Janani Suraksha Yojana.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Designed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to end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mock-up — a clickable prototype with every screen built.</a:t>
            </a:r>
            <a:endParaRPr lang="en-US" sz="1450" dirty="0"/>
          </a:p>
        </p:txBody>
      </p:sp>
      <p:pic>
        <p:nvPicPr>
          <p:cNvPr id="4" name="Image 0" descr="Saathi prototype screen: ph_onboar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first, then consent</a:t>
            </a:r>
            <a:endParaRPr lang="en-US" sz="1100" dirty="0"/>
          </a:p>
        </p:txBody>
      </p:sp>
      <p:pic>
        <p:nvPicPr>
          <p:cNvPr id="7" name="Image 1" descr="Saathi prototype screen: ph_expl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Explore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21558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by life moment</a:t>
            </a:r>
            <a:endParaRPr lang="en-US" sz="1100" dirty="0"/>
          </a:p>
        </p:txBody>
      </p:sp>
      <p:pic>
        <p:nvPicPr>
          <p:cNvPr id="10" name="Image 2" descr="Saathi prototype screen: ph_saat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Saathi AI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4476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any words</a:t>
            </a:r>
            <a:endParaRPr lang="en-US" sz="1100" dirty="0"/>
          </a:p>
        </p:txBody>
      </p:sp>
      <p:pic>
        <p:nvPicPr>
          <p:cNvPr id="13" name="Image 3" descr="Saathi prototype screen: ph_tr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Track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867394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officers, real dates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Trust you can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wallet, a checklist and a privacy dashboard that shows who used your data.</a:t>
            </a:r>
            <a:endParaRPr lang="en-US" sz="1450" dirty="0"/>
          </a:p>
        </p:txBody>
      </p:sp>
      <p:pic>
        <p:nvPicPr>
          <p:cNvPr id="4" name="Image 0" descr="Saathi prototype screen: ph_mo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635" y="2057400"/>
            <a:ext cx="1712928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new baby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services, 1 checklist</a:t>
            </a:r>
            <a:endParaRPr lang="en-US" sz="1100" dirty="0"/>
          </a:p>
        </p:txBody>
      </p:sp>
      <p:pic>
        <p:nvPicPr>
          <p:cNvPr id="7" name="Image 1" descr="Saathi prototype screen: ph_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553" y="2057400"/>
            <a:ext cx="1712928" cy="3337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21558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21558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Tinted document wallet</a:t>
            </a:r>
            <a:endParaRPr lang="en-US" sz="1100" dirty="0"/>
          </a:p>
        </p:txBody>
      </p:sp>
      <p:pic>
        <p:nvPicPr>
          <p:cNvPr id="10" name="Image 2" descr="Saathi prototype screen: ph_priva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71" y="2057400"/>
            <a:ext cx="1712928" cy="33375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94476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Privacy &amp; consent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094476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log, one-tap revoke</a:t>
            </a:r>
            <a:endParaRPr lang="en-US" sz="1100" dirty="0"/>
          </a:p>
        </p:txBody>
      </p:sp>
      <p:pic>
        <p:nvPicPr>
          <p:cNvPr id="13" name="Image 3" descr="Saathi prototype screen: ph_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89" y="2057400"/>
            <a:ext cx="1712928" cy="33375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867394" y="5468112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Home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867394" y="576072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needs attention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Both sides of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citizen's website and the officer's console — every decision reaches the citizen live, in their language.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58968" cy="3672459"/>
          </a:xfrm>
          <a:prstGeom prst="roundRect">
            <a:avLst>
              <a:gd name="adj" fmla="val 3486"/>
            </a:avLst>
          </a:prstGeom>
          <a:solidFill>
            <a:srgbClr val="EEF0F4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2240280"/>
            <a:ext cx="91440" cy="91440"/>
          </a:xfrm>
          <a:prstGeom prst="ellipse">
            <a:avLst/>
          </a:prstGeom>
          <a:solidFill>
            <a:srgbClr val="C8322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40280"/>
            <a:ext cx="91440" cy="91440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24028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pic>
        <p:nvPicPr>
          <p:cNvPr id="8" name="Image 0" descr="Screenshot: 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423160"/>
            <a:ext cx="5349240" cy="33432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81344" y="2148840"/>
            <a:ext cx="5458968" cy="3672459"/>
          </a:xfrm>
          <a:prstGeom prst="roundRect">
            <a:avLst>
              <a:gd name="adj" fmla="val 3486"/>
            </a:avLst>
          </a:prstGeom>
          <a:solidFill>
            <a:srgbClr val="EEF0F4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7648" y="2240280"/>
            <a:ext cx="91440" cy="91440"/>
          </a:xfrm>
          <a:prstGeom prst="ellipse">
            <a:avLst/>
          </a:prstGeom>
          <a:solidFill>
            <a:srgbClr val="C8322B"/>
          </a:solidFill>
          <a:ln/>
        </p:spPr>
      </p:sp>
      <p:sp>
        <p:nvSpPr>
          <p:cNvPr id="11" name="Shape 8"/>
          <p:cNvSpPr/>
          <p:nvPr/>
        </p:nvSpPr>
        <p:spPr>
          <a:xfrm>
            <a:off x="6483096" y="2240280"/>
            <a:ext cx="91440" cy="91440"/>
          </a:xfrm>
          <a:prstGeom prst="ellipse">
            <a:avLst/>
          </a:prstGeom>
          <a:solidFill>
            <a:srgbClr val="FF8A1F"/>
          </a:solidFill>
          <a:ln/>
        </p:spPr>
      </p:sp>
      <p:sp>
        <p:nvSpPr>
          <p:cNvPr id="12" name="Shape 9"/>
          <p:cNvSpPr/>
          <p:nvPr/>
        </p:nvSpPr>
        <p:spPr>
          <a:xfrm>
            <a:off x="6638544" y="2240280"/>
            <a:ext cx="91440" cy="91440"/>
          </a:xfrm>
          <a:prstGeom prst="ellipse">
            <a:avLst/>
          </a:prstGeom>
          <a:solidFill>
            <a:srgbClr val="12803C"/>
          </a:solidFill>
          <a:ln/>
        </p:spPr>
      </p:sp>
      <p:pic>
        <p:nvPicPr>
          <p:cNvPr id="13" name="Image 1" descr="Screenshot: cons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423160"/>
            <a:ext cx="5349240" cy="33432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" y="5852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— “One door to every government service”, with the live prototype embedded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181344" y="58521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for Departments — 15 consoles, masked e-KYC, audit trail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system — Bharat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Calm enough to trust with a pension, precise enough to feel world-class.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 WITH A JOB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F43B8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487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Chakra Navy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779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#1F43B8  ·  Actions, links, focus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2803C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32186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India Green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511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#12803C  ·  Verified, approved, done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FF8A1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950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Saffron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42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#FF8A1F  ·  Highlights — never body 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0B0D14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46817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974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#0B0D14  ·  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413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705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#FFFFFF  ·  Every surface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2148840"/>
            <a:ext cx="3566160" cy="40233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54880" y="2331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TYPE ACROSS SCRIPTS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6060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Aa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Precision.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साथी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520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3F4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நான் உதவலாம்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34340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Geist for Latin UI · Instrument Serif for one emotive word · Anek (Ek Type, an Indian foundry) for Indic headlines · Noto Sans for Indic body at 1.8 line-height (UX4G) · Tiro Devanagari for the wordmark.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21040" y="2148840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8" name="tile-flower-lotus"/>
          <p:cNvSpPr/>
          <p:nvPr/>
        </p:nvSpPr>
        <p:spPr>
          <a:xfrm>
            <a:off x="8458200" y="233172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29" name="Image 0" descr="flower-lo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8901" y="2452421"/>
            <a:ext cx="307238" cy="30723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9144000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Kolam &amp; guilloche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25146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Imagery made in code — kolam line art and security linework. No stock photos, no maps.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321040" y="3172968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3" name="tile-shapes"/>
          <p:cNvSpPr/>
          <p:nvPr/>
        </p:nvSpPr>
        <p:spPr>
          <a:xfrm>
            <a:off x="8458200" y="3355848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34" name="Image 1" descr="sha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901" y="3476549"/>
            <a:ext cx="307238" cy="307238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144000" y="32644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Phosphor, one family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9144000" y="35387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for chrome, duotone for tiles, fill for the active tab.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321040" y="4197096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8" name="tile-wave-sine"/>
          <p:cNvSpPr/>
          <p:nvPr/>
        </p:nvSpPr>
        <p:spPr>
          <a:xfrm>
            <a:off x="8458200" y="4379976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39" name="Image 2" descr="wave-s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1" y="4500677"/>
            <a:ext cx="307238" cy="30723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144000" y="42885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Motion with a reason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9144000" y="456285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motion under 300 ms, always interruptible; fades only for reduced motion.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8321040" y="5221224"/>
            <a:ext cx="3319272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43" name="tile-check-square"/>
          <p:cNvSpPr/>
          <p:nvPr/>
        </p:nvSpPr>
        <p:spPr>
          <a:xfrm>
            <a:off x="8458200" y="5404104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44" name="Image 3" descr="check-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901" y="5524805"/>
            <a:ext cx="307238" cy="307238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144000" y="5312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Contrast, tested</a:t>
            </a:r>
            <a:endParaRPr lang="en-US" sz="1250" dirty="0"/>
          </a:p>
        </p:txBody>
      </p:sp>
      <p:sp>
        <p:nvSpPr>
          <p:cNvPr id="46" name="Text 40"/>
          <p:cNvSpPr txBox="1"/>
          <p:nvPr/>
        </p:nvSpPr>
        <p:spPr>
          <a:xfrm>
            <a:off x="9144000" y="55869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text colour checked ≥ 4.5:1 against WCAG 2.1 AA in automated tests.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changes for the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experience versus Saathi, side by side.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322B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Today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33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With Saathi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Finding a service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69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 the department and the app's name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Start from a life moment, or just ask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Language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69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English forms, typed by hand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17 languages, voice on every field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Help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69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 an agent or a CSC operator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An assistant that plans and fills forms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Consent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69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shared, nobody says with whom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Who, what, why, until when — then Approve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Status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69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Call the office, wait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Timeline with named officers and dates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0D14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Your data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269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idea who looked at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0286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Access log and one-tap revoke</a:t>
                      </a:r>
                      <a:endParaRPr lang="en-US" sz="12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146304" marR="146304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ideas that make it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open-innovation bet: design the door, not another app.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squares-four"/>
          <p:cNvSpPr/>
          <p:nvPr/>
        </p:nvSpPr>
        <p:spPr>
          <a:xfrm>
            <a:off x="804672" y="24963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squares-f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617013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4963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Life-moment bundling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department a life event touches, as one checklist.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hand-palm"/>
          <p:cNvSpPr/>
          <p:nvPr/>
        </p:nvSpPr>
        <p:spPr>
          <a:xfrm>
            <a:off x="4553712" y="24963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11" name="Image 1" descr="hand-pal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261701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4963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with a consent gate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Acts on identity and money only after an explicit yes.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224028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translate"/>
          <p:cNvSpPr/>
          <p:nvPr/>
        </p:nvSpPr>
        <p:spPr>
          <a:xfrm>
            <a:off x="8302752" y="249631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6" name="Image 2" descr="trans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453" y="261701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4963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Vernacular-first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02752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in Hindi and Tamil first; script swaps in 200 ms.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arrows-left-right"/>
          <p:cNvSpPr/>
          <p:nvPr/>
        </p:nvSpPr>
        <p:spPr>
          <a:xfrm>
            <a:off x="804672" y="446227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21" name="Image 3" descr="arrows-left-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58297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462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Two-sided by design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166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decisions reach the citizen's app live.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5" name="tile-eye"/>
          <p:cNvSpPr/>
          <p:nvPr/>
        </p:nvSpPr>
        <p:spPr>
          <a:xfrm>
            <a:off x="4553712" y="446227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8F6F4"/>
          </a:solidFill>
          <a:ln/>
        </p:spPr>
      </p:sp>
      <p:pic>
        <p:nvPicPr>
          <p:cNvPr id="26" name="Image 4" descr="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458297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462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Visible data access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5166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every officer who opened your documents.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4206240"/>
            <a:ext cx="3520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30" name="tile-users"/>
          <p:cNvSpPr/>
          <p:nvPr/>
        </p:nvSpPr>
        <p:spPr>
          <a:xfrm>
            <a:off x="8302752" y="4462272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31" name="Image 5" descr="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453" y="458297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4622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Proxy is first-class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02752" y="5166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a parent with a persistent “helping Sunita” banner.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Already built — and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today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isn't a promise here. It's a working build.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files"/>
          <p:cNvSpPr/>
          <p:nvPr/>
        </p:nvSpPr>
        <p:spPr>
          <a:xfrm>
            <a:off x="777240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f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963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42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government processes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21945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translate"/>
          <p:cNvSpPr/>
          <p:nvPr/>
        </p:nvSpPr>
        <p:spPr>
          <a:xfrm>
            <a:off x="3584448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trans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4963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4528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3584448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live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63056" y="21945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buildings"/>
          <p:cNvSpPr/>
          <p:nvPr/>
        </p:nvSpPr>
        <p:spPr>
          <a:xfrm>
            <a:off x="6391656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build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4963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31736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6391656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consoles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70264" y="2194560"/>
            <a:ext cx="260604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sparkle"/>
          <p:cNvSpPr/>
          <p:nvPr/>
        </p:nvSpPr>
        <p:spPr>
          <a:xfrm>
            <a:off x="9198864" y="23957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1" name="Image 3" descr="spark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49631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838944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missions, end to end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840480"/>
            <a:ext cx="11091672" cy="484632"/>
          </a:xfrm>
          <a:prstGeom prst="roundRect">
            <a:avLst>
              <a:gd name="adj" fmla="val 22642"/>
            </a:avLst>
          </a:prstGeom>
          <a:solidFill>
            <a:srgbClr val="EEF2F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931920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8720" y="38404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Front end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2834640" y="3840480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· React 18 · TypeScript · Tailwind · Framer Motion — static export, no install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4416552"/>
            <a:ext cx="11091672" cy="484632"/>
          </a:xfrm>
          <a:prstGeom prst="roundRect">
            <a:avLst>
              <a:gd name="adj" fmla="val 22642"/>
            </a:avLst>
          </a:prstGeom>
          <a:solidFill>
            <a:srgbClr val="FFF6E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507992"/>
            <a:ext cx="301752" cy="30175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188720" y="441655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453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2834640" y="4416552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next-intl · 23 locale folders · per-script fonts — Bhashini-ready for voice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48640" y="4992624"/>
            <a:ext cx="11091672" cy="484632"/>
          </a:xfrm>
          <a:prstGeom prst="roundRect">
            <a:avLst>
              <a:gd name="adj" fmla="val 22642"/>
            </a:avLst>
          </a:prstGeom>
          <a:solidFill>
            <a:srgbClr val="ECF8F0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084064"/>
            <a:ext cx="301752" cy="30175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188720" y="499262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agent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2834640" y="4992624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 &amp; reviewable: intents → missions → consent pause → outcome · Vitest-tested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548640" y="5568696"/>
            <a:ext cx="11091672" cy="484632"/>
          </a:xfrm>
          <a:prstGeom prst="roundRect">
            <a:avLst>
              <a:gd name="adj" fmla="val 22642"/>
            </a:avLst>
          </a:prstGeom>
          <a:solidFill>
            <a:srgbClr val="F3EFFC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5660136"/>
            <a:ext cx="301752" cy="30175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188720" y="556869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D4AC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2834640" y="5568696"/>
            <a:ext cx="8595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Aadhaar, DigiLocker, UPI, API Setu, CPGRAMS (conceptual today)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model &amp;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(proposed)</a:t>
            </a: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 good, sold to the public sector — city by city, on rails that already exist.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4406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ile-buildings"/>
          <p:cNvSpPr/>
          <p:nvPr/>
        </p:nvSpPr>
        <p:spPr>
          <a:xfrm>
            <a:off x="804672" y="246888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6" name="Image 0" descr="build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2601651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3957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7614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Municipal corporations and state e-governance departments — starting with Smart Cities Mission cities.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194560"/>
            <a:ext cx="54406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0" name="tile-handshake"/>
          <p:cNvSpPr/>
          <p:nvPr/>
        </p:nvSpPr>
        <p:spPr>
          <a:xfrm>
            <a:off x="6428232" y="246888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FFF6EC"/>
          </a:solidFill>
          <a:ln/>
        </p:spPr>
      </p:sp>
      <p:pic>
        <p:nvPicPr>
          <p:cNvPr id="11" name="Image 1" descr="handsh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003" y="2601651"/>
            <a:ext cx="337962" cy="3379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3957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7614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B2G: a one-time city rollout plus annual support. Free for every citizen — no ads, no data selling.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5" name="tile-stack"/>
          <p:cNvSpPr/>
          <p:nvPr/>
        </p:nvSpPr>
        <p:spPr>
          <a:xfrm>
            <a:off x="804672" y="406908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6" name="Image 2" descr="st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43" y="4201851"/>
            <a:ext cx="337962" cy="3379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9959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it's cheap to scale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3616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front end; departments plug in through API Setu; languages through Bhashini. No new data silos.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4406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0" name="tile-chart-line-up"/>
          <p:cNvSpPr/>
          <p:nvPr/>
        </p:nvSpPr>
        <p:spPr>
          <a:xfrm>
            <a:off x="6428232" y="4069080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21" name="Image 3" descr="chart-line-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003" y="4201851"/>
            <a:ext cx="337962" cy="3379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39959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 city wins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36168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counter visits, fewer agents, measurable completion rates and a grievance trail it can audit.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91672" cy="658368"/>
          </a:xfrm>
          <a:prstGeom prst="roundRect">
            <a:avLst>
              <a:gd name="adj" fmla="val 22222"/>
            </a:avLst>
          </a:prstGeom>
          <a:solidFill>
            <a:srgbClr val="EEF2F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" y="54864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028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Go-to-market:  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028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prototype  →  one pilot city (municipal, RTO, health desks)  →  three states  →  every district.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we'll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targets for a pilot — set before testing, so the idea can be judged honestly.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min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apply for a birth certificate, from a first tap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 key flow without help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19088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28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submissions or payments without consent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0604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6296" y="22128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1F4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in 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96265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filled by voice, low-literacy users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62697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VIKSIT BHARAT PILLARS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गरीब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Garib — entitlements find people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355848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युवा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Yuva — licences on a train ride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अन्नदाता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Annadata — PM-KISAN by voice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970264" y="4434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नारी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970264" y="4892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Nari — one checklist after a birth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FF8A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440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11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536192" y="5440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Sustainable cities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55848" y="5440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1F43B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55848" y="5440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16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5440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Strong institutions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63056" y="5440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C832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63056" y="5440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10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150608" y="5440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Reduced inequalities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70264" y="5440680"/>
            <a:ext cx="868680" cy="502920"/>
          </a:xfrm>
          <a:prstGeom prst="roundRect">
            <a:avLst>
              <a:gd name="adj" fmla="val 18182"/>
            </a:avLst>
          </a:prstGeom>
          <a:solidFill>
            <a:srgbClr val="12803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70264" y="5440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SDG 9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957816" y="5440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Innovation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548640" y="841248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 — 90 </a:t>
            </a:r>
            <a:pPr algn="l" indent="0" marL="0">
              <a:buNone/>
            </a:pPr>
            <a:r>
              <a:rPr lang="en-US" sz="3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seconds</a:t>
            </a:r>
            <a:pPr algn="l" indent="0" marL="0">
              <a:buNone/>
            </a:pPr>
            <a:endParaRPr lang="en-US" sz="3000" dirty="0"/>
          </a:p>
        </p:txBody>
      </p:sp>
      <p:sp>
        <p:nvSpPr>
          <p:cNvPr id="3" name="Text 4"/>
          <p:cNvSpPr/>
          <p:nvPr>
            <p:ph idx="106" type="body" hasCustomPrompt="1"/>
          </p:nvPr>
        </p:nvSpPr>
        <p:spPr>
          <a:xfrm>
            <a:off x="54864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the prototype works. Here's the path we'll show.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749808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ile-translate"/>
          <p:cNvSpPr/>
          <p:nvPr/>
        </p:nvSpPr>
        <p:spPr>
          <a:xfrm>
            <a:off x="1261872" y="235000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EF2FC"/>
          </a:solidFill>
          <a:ln/>
        </p:spPr>
      </p:sp>
      <p:pic>
        <p:nvPicPr>
          <p:cNvPr id="7" name="Image 0" descr="trans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526" y="2462662"/>
            <a:ext cx="286756" cy="2867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38528" y="22860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Switch to हिन्दी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38528" y="26517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app re-typesets instantly — no reload.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749808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31546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ile-sparkle"/>
          <p:cNvSpPr/>
          <p:nvPr/>
        </p:nvSpPr>
        <p:spPr>
          <a:xfrm>
            <a:off x="1261872" y="331012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3EFFC"/>
          </a:solidFill>
          <a:ln/>
        </p:spPr>
      </p:sp>
      <p:pic>
        <p:nvPicPr>
          <p:cNvPr id="13" name="Image 1" descr="spark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526" y="3422782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38528" y="3246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“मेरी बेटी का जन्म प्रमाणपत्र बनवाना है”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938528" y="36118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Saathi plans, cites DigiLocker and e-District, waits for Approve.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749808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31520" y="4114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ile-buildings"/>
          <p:cNvSpPr/>
          <p:nvPr/>
        </p:nvSpPr>
        <p:spPr>
          <a:xfrm>
            <a:off x="1261872" y="427024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ECF8F0"/>
          </a:solidFill>
          <a:ln/>
        </p:spPr>
      </p:sp>
      <p:pic>
        <p:nvPicPr>
          <p:cNvPr id="19" name="Image 2" descr="build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526" y="4382902"/>
            <a:ext cx="286756" cy="2867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938528" y="4206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 it as the officer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938528" y="45720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Nagar Nigam's console — the citizen's Track updates live.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074920"/>
            <a:ext cx="749808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6E8EE"/>
            </a:solidFill>
            <a:prstDash val="solid"/>
          </a:ln>
          <a:effectLst>
            <a:outerShdw sx="100000" sy="100000" kx="0" ky="0" algn="bl" rotWithShape="0" blurRad="177800" dist="50800" dir="5400000">
              <a:srgbClr val="0B0D14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31520" y="50749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F4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ile-shield-check"/>
          <p:cNvSpPr/>
          <p:nvPr/>
        </p:nvSpPr>
        <p:spPr>
          <a:xfrm>
            <a:off x="1261872" y="5230368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FDEFEE"/>
          </a:solidFill>
          <a:ln/>
        </p:spPr>
      </p:sp>
      <p:pic>
        <p:nvPicPr>
          <p:cNvPr id="25" name="Image 3" descr="shield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526" y="5343022"/>
            <a:ext cx="286756" cy="2867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938528" y="51663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0D1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Revoke a consent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1938528" y="55321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269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dashboard: see who accessed your data, switch it off.</a:t>
            </a:r>
            <a:endParaRPr lang="en-US" sz="1150" dirty="0"/>
          </a:p>
        </p:txBody>
      </p:sp>
      <p:pic>
        <p:nvPicPr>
          <p:cNvPr id="28" name="Image 4" descr="Saathi prototype screen: ph_saath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1965960"/>
            <a:ext cx="2229152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269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olam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SAATHI WINS</a:t>
            </a:r>
            <a:endParaRPr lang="en-US" sz="1050" dirty="0"/>
          </a:p>
        </p:txBody>
      </p:sp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201168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another app. </a:t>
            </a:r>
            <a:pPr algn="l" indent="0" marL="0">
              <a:buNone/>
            </a:pPr>
            <a:r>
              <a:rPr lang="en-US" sz="40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door</a:t>
            </a:r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 all of them.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48640" y="3657600"/>
            <a:ext cx="1572768" cy="1051560"/>
          </a:xfrm>
          <a:prstGeom prst="roundRect">
            <a:avLst>
              <a:gd name="adj" fmla="val 12174"/>
            </a:avLst>
          </a:prstGeom>
          <a:solidFill>
            <a:srgbClr val="1028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3749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problem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citizen, every city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240280" y="3657600"/>
            <a:ext cx="1572768" cy="1051560"/>
          </a:xfrm>
          <a:prstGeom prst="roundRect">
            <a:avLst>
              <a:gd name="adj" fmla="val 12174"/>
            </a:avLst>
          </a:prstGeom>
          <a:solidFill>
            <a:srgbClr val="10286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3749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Working build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flows · 17 languages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31920" y="3657600"/>
            <a:ext cx="1572768" cy="1051560"/>
          </a:xfrm>
          <a:prstGeom prst="roundRect">
            <a:avLst>
              <a:gd name="adj" fmla="val 12174"/>
            </a:avLst>
          </a:prstGeom>
          <a:solidFill>
            <a:srgbClr val="10286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069080" y="3749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AI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acts without a yes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23560" y="3657600"/>
            <a:ext cx="1572768" cy="1051560"/>
          </a:xfrm>
          <a:prstGeom prst="roundRect">
            <a:avLst>
              <a:gd name="adj" fmla="val 12174"/>
            </a:avLst>
          </a:prstGeom>
          <a:solidFill>
            <a:srgbClr val="10286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0" y="3749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Ready to scale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B9C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India Stack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29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spc="200" kern="0" dirty="0">
                <a:solidFill>
                  <a:srgbClr val="FFBE7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WE'RE ASKING FOR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303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DE5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Mentorship, a pilot partner city, and access to Bhashini and API Setu sandboxes to take Saathi from prototype to pilot.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943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i="1" dirty="0">
                <a:solidFill>
                  <a:srgbClr val="FFBE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B9C8F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thi Bharat Precision">
  <a:themeElements>
    <a:clrScheme name="Saathi Bharat Precision">
      <a:dk1>
        <a:srgbClr val="0B0D14"/>
      </a:dk1>
      <a:lt1>
        <a:srgbClr val="FFFFFF"/>
      </a:lt1>
      <a:dk2>
        <a:srgbClr val="0A1C54"/>
      </a:dk2>
      <a:lt2>
        <a:srgbClr val="F7F8FA"/>
      </a:lt2>
      <a:accent1>
        <a:srgbClr val="1F43B8"/>
      </a:accent1>
      <a:accent2>
        <a:srgbClr val="FF8A1F"/>
      </a:accent2>
      <a:accent3>
        <a:srgbClr val="12803C"/>
      </a:accent3>
      <a:accent4>
        <a:srgbClr val="5577E0"/>
      </a:accent4>
      <a:accent5>
        <a:srgbClr val="B45309"/>
      </a:accent5>
      <a:accent6>
        <a:srgbClr val="626978"/>
      </a:accent6>
      <a:hlink>
        <a:srgbClr val="1F43B8"/>
      </a:hlink>
      <a:folHlink>
        <a:srgbClr val="16338F"/>
      </a:folHlink>
    </a:clrScheme>
    <a:fontScheme name="Saathi Bharat Precision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Saathi — Hack-O-Octo 4.0 pitch</dc:title>
  <dc:subject>Hack-O-Octo 4.0 · Chandigarh University · Open Innovation Challenge</dc:subject>
  <dc:creator>Krishom Sharma</dc:creator>
  <cp:lastModifiedBy>Krishom Sharma</cp:lastModifiedBy>
  <cp:revision>1</cp:revision>
  <dcterms:created xsi:type="dcterms:W3CDTF">2026-10-14T15:37:42Z</dcterms:created>
  <dcterms:modified xsi:type="dcterms:W3CDTF">2026-10-14T15:37:42Z</dcterms:modified>
</cp:coreProperties>
</file>
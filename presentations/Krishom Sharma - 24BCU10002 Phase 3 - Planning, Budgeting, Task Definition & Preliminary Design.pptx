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3b053ebb-3fc3-8cd3-c258-14b1743260d9}">
          <p14:sldIdLst>
            <p14:sldId id="256"/>
          </p14:sldIdLst>
        </p14:section>
        <p14:section name="Contents" id="{e79c053b-06e0-088d-5916-8ec861e1d6dc}">
          <p14:sldIdLst>
            <p14:sldId id="257"/>
          </p14:sldIdLst>
        </p14:section>
        <p14:section name="Planning" id="{3f4c63a8-b1b7-72ef-d4c8-1117bd1af7f8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Preliminary design" id="{2b4c0271-e387-b563-8833-a3ad0c06e216}">
          <p14:sldIdLst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Close" id="{12e3e245-cd5b-472b-5bb2-91aaa496d9b5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43B8"/>
              </a:solidFill>
              <a:effectLst/>
            </c:spPr>
          </c:dPt>
          <c:dPt>
            <c:idx val="1"/>
            <c:bubble3D val="0"/>
            <c:spPr>
              <a:solidFill>
                <a:srgbClr val="FF8A1F"/>
              </a:solidFill>
              <a:effectLst/>
            </c:spPr>
          </c:dPt>
          <c:dPt>
            <c:idx val="2"/>
            <c:bubble3D val="0"/>
            <c:spPr>
              <a:solidFill>
                <a:srgbClr val="12803C"/>
              </a:solidFill>
              <a:effectLst/>
            </c:spPr>
          </c:dPt>
          <c:dPt>
            <c:idx val="3"/>
            <c:bubble3D val="0"/>
            <c:spPr>
              <a:solidFill>
                <a:srgbClr val="5577E0"/>
              </a:solidFill>
              <a:effectLst/>
            </c:spPr>
          </c:dPt>
          <c:dPt>
            <c:idx val="4"/>
            <c:bubble3D val="0"/>
            <c:spPr>
              <a:solidFill>
                <a:srgbClr val="FFBE7A"/>
              </a:solidFill>
              <a:effectLst/>
            </c:spPr>
          </c:dPt>
          <c:dPt>
            <c:idx val="5"/>
            <c:bubble3D val="0"/>
            <c:spPr>
              <a:solidFill>
                <a:srgbClr val="6D4AC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Web hosting</c:v>
                </c:pt>
                <c:pt idx="1">
                  <c:v>Usability testing</c:v>
                </c:pt>
                <c:pt idx="2">
                  <c:v>Field research travel</c:v>
                </c:pt>
                <c:pt idx="3">
                  <c:v>Mobile data &amp; internet</c:v>
                </c:pt>
                <c:pt idx="4">
                  <c:v>Domain name</c:v>
                </c:pt>
                <c:pt idx="5">
                  <c:v>Printing &amp; report binding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2400</c:v>
                </c:pt>
                <c:pt idx="1">
                  <c:v>2000</c:v>
                </c:pt>
                <c:pt idx="2">
                  <c:v>1500</c:v>
                </c:pt>
                <c:pt idx="3">
                  <c:v>1200</c:v>
                </c:pt>
                <c:pt idx="4">
                  <c:v>800</c:v>
                </c:pt>
                <c:pt idx="5">
                  <c:v>600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3A3F4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ATHI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9184"/>
            <a:ext cx="329184" cy="25420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24688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D1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साथी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1627632" y="2468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City Citizen Services App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611112" y="28346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16338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3  ·  PLANNING &amp; PRELIMINARY DESIGN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Krishom Sharma  ·  BCA (UI/UX Designs)  ·  UID 24BCU10002  ·  UIC</a:t>
            </a:r>
            <a:endParaRPr lang="en-US" sz="950" dirty="0"/>
          </a:p>
        </p:txBody>
      </p:sp>
      <p:sp>
        <p:nvSpPr>
          <p:cNvPr id="7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8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indent="0" marL="0">
              <a:buNone/>
            </a:pP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ATHI_DARK">
    <p:bg>
      <p:bgPr>
        <a:solidFill>
          <a:srgbClr val="0A1C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9184"/>
            <a:ext cx="329184" cy="25420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24688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साथी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1627632" y="2468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City Citizen Services App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Krishom Sharma  ·  BCA (UI/UX Designs)  ·  UID 24BCU10002  ·  UIC</a:t>
            </a:r>
            <a:endParaRPr lang="en-US" sz="95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548640" y="2011680"/>
            <a:ext cx="1042416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B9C8F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ATHI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olam line-art tex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5272" y="0"/>
            <a:ext cx="65836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FF8A1F"/>
          </a:solidFill>
          <a:ln/>
        </p:spPr>
      </p:sp>
      <p:sp>
        <p:nvSpPr>
          <p:cNvPr id="4" name="Shape 1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57443" y="-10973"/>
            <a:ext cx="76810" cy="76810"/>
          </a:xfrm>
          <a:prstGeom prst="ellipse">
            <a:avLst/>
          </a:prstGeom>
          <a:solidFill>
            <a:srgbClr val="1F43B8"/>
          </a:solidFill>
          <a:ln/>
        </p:spPr>
      </p:sp>
      <p:sp>
        <p:nvSpPr>
          <p:cNvPr id="6" name="Shape 3"/>
          <p:cNvSpPr/>
          <p:nvPr/>
        </p:nvSpPr>
        <p:spPr>
          <a:xfrm>
            <a:off x="8127797" y="0"/>
            <a:ext cx="4063898" cy="54864"/>
          </a:xfrm>
          <a:prstGeom prst="rect">
            <a:avLst/>
          </a:prstGeom>
          <a:solidFill>
            <a:srgbClr val="12803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66928"/>
            <a:ext cx="457200" cy="35295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457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0B0D1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साथी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2194560" y="457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spc="300" kern="0" dirty="0">
                <a:solidFill>
                  <a:srgbClr val="6269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SAATHI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40080" y="1417320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EEF2FC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40080" y="1417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338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Minor Project  ·  Phase 3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18745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B4530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Planning, Budgeting, Task Definition &amp; Preliminary Design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2286000"/>
            <a:ext cx="6766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Smart City Citizen
</a:t>
            </a:r>
            <a:pPr indent="0" marL="0">
              <a:lnSpc>
                <a:spcPct val="95000"/>
              </a:lnSpc>
              <a:buNone/>
            </a:pPr>
            <a:r>
              <a:rPr lang="en-US" sz="44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Services App</a:t>
            </a:r>
            <a:pPr indent="0" marL="0">
              <a:lnSpc>
                <a:spcPct val="95000"/>
              </a:lnSpc>
              <a:buNone/>
            </a:pPr>
            <a:endParaRPr lang="en-US" sz="44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4005072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Saathi — one door to every government service. A multilingual, voice-first citizen app with an assistant that asks before it acts.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640080" y="4846320"/>
            <a:ext cx="6035040" cy="1417320"/>
          </a:xfrm>
          <a:prstGeom prst="roundRect">
            <a:avLst>
              <a:gd name="adj" fmla="val 11613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896112" y="50109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1F4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SUBMITTED BY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896112" y="52669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Krishom Sharma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896112" y="5650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BCA (UI/UX Designs)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896112" y="58887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UID — 24BCU10002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3977640" y="5074920"/>
            <a:ext cx="0" cy="960120"/>
          </a:xfrm>
          <a:prstGeom prst="line">
            <a:avLst/>
          </a:prstGeom>
          <a:noFill/>
          <a:ln w="9525">
            <a:solidFill>
              <a:srgbClr val="E6E8EE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206240" y="50109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1F4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DEPARTMENT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4206240" y="52669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UIC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4206240" y="56509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University Institute of Computing</a:t>
            </a:r>
            <a:endParaRPr lang="en-US" sz="1200" dirty="0"/>
          </a:p>
        </p:txBody>
      </p:sp>
      <p:pic>
        <p:nvPicPr>
          <p:cNvPr id="24" name="Image 2" descr="Saathi prototype screen: ph_tra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502920"/>
            <a:ext cx="3003490" cy="585216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406640" y="64465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AA0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design concept. Not affiliated with the Government of India.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this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</a:t>
            </a:r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covers</a:t>
            </a: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 plans the work, prices it, breaks it into tasks and shows the first design.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22585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51460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Double Diamond, applied to a civic product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986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29169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Project timeline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317296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16-week plan with phase milestones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570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57530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 breakdown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383133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workstreams, every task named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2153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42336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Task definition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448970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Deliverable, duration and tools per task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873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48920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Tools &amp; resources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514807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open-source stack and test devices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32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207008" y="55504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Budget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580644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Indicative costs — software at ₹0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6922008" y="22585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Risks &amp; mitigation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922008" y="251460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could go wrong, and the plan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28986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6922008" y="29169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Information architecture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922008" y="317296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tabs with the assistant at the centre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263640" y="35570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6922008" y="357530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 flow — Saathi AI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922008" y="383133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→ plan → approve → done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263640" y="42153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6922008" y="42336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Design system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922008" y="448970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Bharat Precision: colour, type, imagery, motion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263640" y="4873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6922008" y="48920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Preliminary screens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922008" y="514807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Citizen app and department console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Methodology — the Double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Diamond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Diverge to understand, converge to define; diverge to explore, converge to deliver.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440680" cy="2377440"/>
          </a:xfrm>
          <a:prstGeom prst="diamond">
            <a:avLst/>
          </a:prstGeom>
          <a:solidFill>
            <a:srgbClr val="EEF2FC"/>
          </a:solidFill>
          <a:ln/>
        </p:spPr>
      </p:sp>
      <p:sp>
        <p:nvSpPr>
          <p:cNvPr id="5" name="Shape 3"/>
          <p:cNvSpPr/>
          <p:nvPr/>
        </p:nvSpPr>
        <p:spPr>
          <a:xfrm>
            <a:off x="6172200" y="2286000"/>
            <a:ext cx="5440680" cy="2377440"/>
          </a:xfrm>
          <a:prstGeom prst="diamond">
            <a:avLst/>
          </a:prstGeom>
          <a:solidFill>
            <a:srgbClr val="ECF8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20040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633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space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320040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0B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space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4892040"/>
            <a:ext cx="260604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7492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61872" y="50566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  Discover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55321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conversations · app audit · standards review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55848" y="4892040"/>
            <a:ext cx="260604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50749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069080" y="50566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  Define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584448" y="55321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Personas · problem statement · objectives · scope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63056" y="4892040"/>
            <a:ext cx="260604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50749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876288" y="50566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  Develop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391656" y="55321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 · flows · design system · prototype · agent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970264" y="4892040"/>
            <a:ext cx="260604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4" y="50749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683496" y="50566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  Deliver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198864" y="55321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 · language review · build · case study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Project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timeline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 schedule across a 16-week semester, with the three phase reviews and the expo as milestones.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3749040" y="2240280"/>
            <a:ext cx="493205" cy="33832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749040" y="1965960"/>
            <a:ext cx="493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W1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242244" y="1965960"/>
            <a:ext cx="493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W2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35449" y="2240280"/>
            <a:ext cx="493205" cy="33832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35449" y="1965960"/>
            <a:ext cx="493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W3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228654" y="1965960"/>
            <a:ext cx="493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W4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721858" y="2240280"/>
            <a:ext cx="493205" cy="33832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721858" y="1965960"/>
            <a:ext cx="493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W5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215063" y="1965960"/>
            <a:ext cx="493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W6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08267" y="2240280"/>
            <a:ext cx="493205" cy="33832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08267" y="1965960"/>
            <a:ext cx="493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W7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201471" y="1965960"/>
            <a:ext cx="493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W8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694676" y="2240280"/>
            <a:ext cx="493205" cy="33832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94676" y="1965960"/>
            <a:ext cx="493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W9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8187880" y="1965960"/>
            <a:ext cx="493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W10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681085" y="2240280"/>
            <a:ext cx="493205" cy="33832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1085" y="1965960"/>
            <a:ext cx="493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W11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9174290" y="1965960"/>
            <a:ext cx="493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W12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667494" y="2240280"/>
            <a:ext cx="493205" cy="33832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667494" y="1965960"/>
            <a:ext cx="493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W13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10160699" y="1965960"/>
            <a:ext cx="493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W14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653903" y="2240280"/>
            <a:ext cx="493205" cy="33832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653903" y="1965960"/>
            <a:ext cx="493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W15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11147108" y="1965960"/>
            <a:ext cx="493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W16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22860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 &amp; problem definition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776472" y="2359152"/>
            <a:ext cx="1424750" cy="182880"/>
          </a:xfrm>
          <a:prstGeom prst="roundRect">
            <a:avLst>
              <a:gd name="adj" fmla="val 55000"/>
            </a:avLst>
          </a:prstGeom>
          <a:solidFill>
            <a:srgbClr val="1F43B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" y="261518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 &amp; literature review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62881" y="2688336"/>
            <a:ext cx="1424750" cy="182880"/>
          </a:xfrm>
          <a:prstGeom prst="roundRect">
            <a:avLst>
              <a:gd name="adj" fmla="val 55000"/>
            </a:avLst>
          </a:prstGeom>
          <a:solidFill>
            <a:srgbClr val="1F43B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48640" y="294436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 architecture &amp; flows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749290" y="3017520"/>
            <a:ext cx="931545" cy="182880"/>
          </a:xfrm>
          <a:prstGeom prst="roundRect">
            <a:avLst>
              <a:gd name="adj" fmla="val 55000"/>
            </a:avLst>
          </a:prstGeom>
          <a:solidFill>
            <a:srgbClr val="FF8A1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48640" y="327355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system (Bharat Precision)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42495" y="3346704"/>
            <a:ext cx="1424750" cy="182880"/>
          </a:xfrm>
          <a:prstGeom prst="roundRect">
            <a:avLst>
              <a:gd name="adj" fmla="val 55000"/>
            </a:avLst>
          </a:prstGeom>
          <a:solidFill>
            <a:srgbClr val="FF8A1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48640" y="360273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Prototype screens &amp; apply engine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735699" y="3675888"/>
            <a:ext cx="2411159" cy="182880"/>
          </a:xfrm>
          <a:prstGeom prst="roundRect">
            <a:avLst>
              <a:gd name="adj" fmla="val 55000"/>
            </a:avLst>
          </a:prstGeom>
          <a:solidFill>
            <a:srgbClr val="FF8A1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48640" y="39319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Saathi AI — scripted agent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215312" y="4005072"/>
            <a:ext cx="1424750" cy="182880"/>
          </a:xfrm>
          <a:prstGeom prst="roundRect">
            <a:avLst>
              <a:gd name="adj" fmla="val 55000"/>
            </a:avLst>
          </a:prstGeom>
          <a:solidFill>
            <a:srgbClr val="12803C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48640" y="426110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 consoles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708517" y="4334256"/>
            <a:ext cx="1424750" cy="182880"/>
          </a:xfrm>
          <a:prstGeom prst="roundRect">
            <a:avLst>
              <a:gd name="adj" fmla="val 55000"/>
            </a:avLst>
          </a:prstGeom>
          <a:solidFill>
            <a:srgbClr val="12803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48640" y="459028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Website &amp; case study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9201722" y="4663440"/>
            <a:ext cx="1424750" cy="182880"/>
          </a:xfrm>
          <a:prstGeom prst="roundRect">
            <a:avLst>
              <a:gd name="adj" fmla="val 55000"/>
            </a:avLst>
          </a:prstGeom>
          <a:solidFill>
            <a:srgbClr val="12803C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48640" y="491947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 &amp; language review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9694926" y="4992624"/>
            <a:ext cx="1424750" cy="182880"/>
          </a:xfrm>
          <a:prstGeom prst="roundRect">
            <a:avLst>
              <a:gd name="adj" fmla="val 55000"/>
            </a:avLst>
          </a:prstGeom>
          <a:solidFill>
            <a:srgbClr val="6D4AC8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548640" y="524865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build &amp; submission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10681335" y="5321808"/>
            <a:ext cx="931545" cy="182880"/>
          </a:xfrm>
          <a:prstGeom prst="roundRect">
            <a:avLst>
              <a:gd name="adj" fmla="val 55000"/>
            </a:avLst>
          </a:prstGeom>
          <a:solidFill>
            <a:srgbClr val="6D4AC8"/>
          </a:solidFill>
          <a:ln/>
        </p:spPr>
      </p:sp>
      <p:sp>
        <p:nvSpPr>
          <p:cNvPr id="48" name="Shape 46"/>
          <p:cNvSpPr/>
          <p:nvPr/>
        </p:nvSpPr>
        <p:spPr>
          <a:xfrm>
            <a:off x="4881467" y="5687568"/>
            <a:ext cx="201168" cy="201168"/>
          </a:xfrm>
          <a:prstGeom prst="diamond">
            <a:avLst/>
          </a:prstGeom>
          <a:solidFill>
            <a:srgbClr val="0B0D14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4159091" y="5925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1 review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361081" y="5687568"/>
            <a:ext cx="201168" cy="201168"/>
          </a:xfrm>
          <a:prstGeom prst="diamond">
            <a:avLst/>
          </a:prstGeom>
          <a:solidFill>
            <a:srgbClr val="0B0D14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5638705" y="5925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2 review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840694" y="5687568"/>
            <a:ext cx="201168" cy="201168"/>
          </a:xfrm>
          <a:prstGeom prst="diamond">
            <a:avLst/>
          </a:prstGeom>
          <a:solidFill>
            <a:srgbClr val="0B0D14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7118318" y="5925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3 review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1293126" y="5687568"/>
            <a:ext cx="201168" cy="201168"/>
          </a:xfrm>
          <a:prstGeom prst="diamond">
            <a:avLst/>
          </a:prstGeom>
          <a:solidFill>
            <a:srgbClr val="0B0D14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10570750" y="5925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Project Expo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48640" y="5806440"/>
            <a:ext cx="274320" cy="146304"/>
          </a:xfrm>
          <a:prstGeom prst="roundRect">
            <a:avLst>
              <a:gd name="adj" fmla="val 37500"/>
            </a:avLst>
          </a:prstGeom>
          <a:solidFill>
            <a:srgbClr val="1F43B8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896112" y="57424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2011680" y="5806440"/>
            <a:ext cx="274320" cy="146304"/>
          </a:xfrm>
          <a:prstGeom prst="roundRect">
            <a:avLst>
              <a:gd name="adj" fmla="val 37500"/>
            </a:avLst>
          </a:prstGeom>
          <a:solidFill>
            <a:srgbClr val="FF8A1F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2359152" y="57424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48640" y="6080760"/>
            <a:ext cx="274320" cy="146304"/>
          </a:xfrm>
          <a:prstGeom prst="roundRect">
            <a:avLst>
              <a:gd name="adj" fmla="val 37500"/>
            </a:avLst>
          </a:prstGeom>
          <a:solidFill>
            <a:srgbClr val="12803C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896112" y="60167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2011680" y="6080760"/>
            <a:ext cx="274320" cy="146304"/>
          </a:xfrm>
          <a:prstGeom prst="roundRect">
            <a:avLst>
              <a:gd name="adj" fmla="val 37500"/>
            </a:avLst>
          </a:prstGeom>
          <a:solidFill>
            <a:srgbClr val="6D4AC8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2359152" y="60167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&amp; ship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 breakdown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workstreams; every leaf is a task with an owner, an output and a date.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727448" y="2103120"/>
            <a:ext cx="2743200" cy="502920"/>
          </a:xfrm>
          <a:prstGeom prst="roundRect">
            <a:avLst>
              <a:gd name="adj" fmla="val 25455"/>
            </a:avLst>
          </a:prstGeom>
          <a:solidFill>
            <a:srgbClr val="0B0D1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727448" y="2103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Saathi — Smart City App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691640" y="2880360"/>
            <a:ext cx="8823960" cy="0"/>
          </a:xfrm>
          <a:prstGeom prst="line">
            <a:avLst/>
          </a:prstGeom>
          <a:noFill/>
          <a:ln w="12700">
            <a:solidFill>
              <a:srgbClr val="D3D8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9048" y="2606040"/>
            <a:ext cx="0" cy="274320"/>
          </a:xfrm>
          <a:prstGeom prst="line">
            <a:avLst/>
          </a:prstGeom>
          <a:noFill/>
          <a:ln w="12700">
            <a:solidFill>
              <a:srgbClr val="D3D8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91640" y="2880360"/>
            <a:ext cx="0" cy="228600"/>
          </a:xfrm>
          <a:prstGeom prst="line">
            <a:avLst/>
          </a:prstGeom>
          <a:noFill/>
          <a:ln w="12700">
            <a:solidFill>
              <a:srgbClr val="D3D8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108960"/>
            <a:ext cx="2176272" cy="502920"/>
          </a:xfrm>
          <a:prstGeom prst="roundRect">
            <a:avLst>
              <a:gd name="adj" fmla="val 25455"/>
            </a:avLst>
          </a:prstGeom>
          <a:solidFill>
            <a:srgbClr val="EEF2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10896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4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1.0 Research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217627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37947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F4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1.1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794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Citizen conversations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361688"/>
            <a:ext cx="217627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436168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F4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1.2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43616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&amp; portal audit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928616"/>
            <a:ext cx="217627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492861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F4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1.3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9286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495544"/>
            <a:ext cx="217627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549554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F4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1.4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549554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931920" y="2880360"/>
            <a:ext cx="0" cy="228600"/>
          </a:xfrm>
          <a:prstGeom prst="line">
            <a:avLst/>
          </a:prstGeom>
          <a:noFill/>
          <a:ln w="12700">
            <a:solidFill>
              <a:srgbClr val="D3D8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88920" y="3108960"/>
            <a:ext cx="2176272" cy="502920"/>
          </a:xfrm>
          <a:prstGeom prst="roundRect">
            <a:avLst>
              <a:gd name="adj" fmla="val 25455"/>
            </a:avLst>
          </a:prstGeom>
          <a:solidFill>
            <a:srgbClr val="FFF6E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788920" y="310896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B4530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2.0 Design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788920" y="3794760"/>
            <a:ext cx="217627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898648" y="37947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B4530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2.1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3291840" y="3794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 architecture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88920" y="4361688"/>
            <a:ext cx="217627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898648" y="436168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B4530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2.2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3291840" y="43616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flows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88920" y="4928616"/>
            <a:ext cx="217627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898648" y="492861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B4530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2.3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3291840" y="49286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system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88920" y="5495544"/>
            <a:ext cx="217627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898648" y="549554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B4530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2.4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3291840" y="549554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High-fidelity screens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72200" y="2880360"/>
            <a:ext cx="0" cy="228600"/>
          </a:xfrm>
          <a:prstGeom prst="line">
            <a:avLst/>
          </a:prstGeom>
          <a:noFill/>
          <a:ln w="12700">
            <a:solidFill>
              <a:srgbClr val="D3D8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0" y="3108960"/>
            <a:ext cx="2176272" cy="502920"/>
          </a:xfrm>
          <a:prstGeom prst="roundRect">
            <a:avLst>
              <a:gd name="adj" fmla="val 25455"/>
            </a:avLst>
          </a:prstGeom>
          <a:solidFill>
            <a:srgbClr val="ECF8F0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029200" y="310896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28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3.0 Prototype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029200" y="3794760"/>
            <a:ext cx="217627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138928" y="37947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28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3.1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5532120" y="3794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shell &amp; tabs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029200" y="4361688"/>
            <a:ext cx="217627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138928" y="436168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28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3.2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5532120" y="43616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 apply flows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029200" y="4928616"/>
            <a:ext cx="217627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138928" y="492861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28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3.3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5532120" y="49286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Saathi AI agent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029200" y="5495544"/>
            <a:ext cx="217627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138928" y="549554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28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3.4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5532120" y="549554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Dept. consoles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412480" y="2880360"/>
            <a:ext cx="0" cy="228600"/>
          </a:xfrm>
          <a:prstGeom prst="line">
            <a:avLst/>
          </a:prstGeom>
          <a:noFill/>
          <a:ln w="12700">
            <a:solidFill>
              <a:srgbClr val="D3D8E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269480" y="3108960"/>
            <a:ext cx="2176272" cy="502920"/>
          </a:xfrm>
          <a:prstGeom prst="roundRect">
            <a:avLst>
              <a:gd name="adj" fmla="val 25455"/>
            </a:avLst>
          </a:prstGeom>
          <a:solidFill>
            <a:srgbClr val="F3EFFC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7269480" y="310896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D4A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4.0 Language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7269480" y="3794760"/>
            <a:ext cx="217627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379208" y="37947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D4A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4.1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7772400" y="3794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Locale infrastructure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269480" y="4361688"/>
            <a:ext cx="217627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379208" y="436168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D4A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4.2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7772400" y="43616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Hindi · Bengali · Tamil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269480" y="4928616"/>
            <a:ext cx="217627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379208" y="492861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D4A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4.3</a:t>
            </a:r>
            <a:endParaRPr lang="en-US" sz="950" dirty="0"/>
          </a:p>
        </p:txBody>
      </p:sp>
      <p:sp>
        <p:nvSpPr>
          <p:cNvPr id="64" name="Text 62"/>
          <p:cNvSpPr txBox="1"/>
          <p:nvPr/>
        </p:nvSpPr>
        <p:spPr>
          <a:xfrm>
            <a:off x="7772400" y="49286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machine-assisted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269480" y="5495544"/>
            <a:ext cx="217627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7379208" y="549554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D4A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4.4</a:t>
            </a:r>
            <a:endParaRPr lang="en-US" sz="950" dirty="0"/>
          </a:p>
        </p:txBody>
      </p:sp>
      <p:sp>
        <p:nvSpPr>
          <p:cNvPr id="67" name="Text 65"/>
          <p:cNvSpPr txBox="1"/>
          <p:nvPr/>
        </p:nvSpPr>
        <p:spPr>
          <a:xfrm>
            <a:off x="7772400" y="549554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Per-script typography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10652760" y="2880360"/>
            <a:ext cx="0" cy="228600"/>
          </a:xfrm>
          <a:prstGeom prst="line">
            <a:avLst/>
          </a:prstGeom>
          <a:noFill/>
          <a:ln w="12700">
            <a:solidFill>
              <a:srgbClr val="D3D8E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509760" y="3108960"/>
            <a:ext cx="2176272" cy="502920"/>
          </a:xfrm>
          <a:prstGeom prst="roundRect">
            <a:avLst>
              <a:gd name="adj" fmla="val 25455"/>
            </a:avLst>
          </a:prstGeom>
          <a:solidFill>
            <a:srgbClr val="E8F6F4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9509760" y="310896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F7A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5.0 Validation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9509760" y="3794760"/>
            <a:ext cx="217627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9619488" y="37947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F7A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5.1</a:t>
            </a:r>
            <a:endParaRPr lang="en-US" sz="950" dirty="0"/>
          </a:p>
        </p:txBody>
      </p:sp>
      <p:sp>
        <p:nvSpPr>
          <p:cNvPr id="73" name="Text 71"/>
          <p:cNvSpPr txBox="1"/>
          <p:nvPr/>
        </p:nvSpPr>
        <p:spPr>
          <a:xfrm>
            <a:off x="10012680" y="3794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Contrast tests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9509760" y="4361688"/>
            <a:ext cx="217627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9619488" y="436168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F7A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5.2</a:t>
            </a:r>
            <a:endParaRPr lang="en-US" sz="950" dirty="0"/>
          </a:p>
        </p:txBody>
      </p:sp>
      <p:sp>
        <p:nvSpPr>
          <p:cNvPr id="76" name="Text 74"/>
          <p:cNvSpPr txBox="1"/>
          <p:nvPr/>
        </p:nvSpPr>
        <p:spPr>
          <a:xfrm>
            <a:off x="10012680" y="43616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unit tests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9509760" y="4928616"/>
            <a:ext cx="217627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9619488" y="492861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F7A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5.3</a:t>
            </a:r>
            <a:endParaRPr 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10012680" y="49286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Usability sessions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9509760" y="5495544"/>
            <a:ext cx="217627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9619488" y="549554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F7A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5.4</a:t>
            </a:r>
            <a:endParaRPr lang="en-US" sz="950" dirty="0"/>
          </a:p>
        </p:txBody>
      </p:sp>
      <p:sp>
        <p:nvSpPr>
          <p:cNvPr id="82" name="Text 80"/>
          <p:cNvSpPr txBox="1"/>
          <p:nvPr/>
        </p:nvSpPr>
        <p:spPr>
          <a:xfrm>
            <a:off x="10012680" y="549554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study &amp; expo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Task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definition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task, what it produces, how long it takes and what it is built with.</a:t>
            </a:r>
            <a:endParaRPr lang="en-US" sz="14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017520"/>
                <a:gridCol w="4050792"/>
                <a:gridCol w="1188720"/>
                <a:gridCol w="2286000"/>
              </a:tblGrid>
              <a:tr h="3611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#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Task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Deliverable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Duration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Tools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43B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T1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User research &amp; personas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 personas, frictions, quotes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wks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Interviews, notes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43B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T2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Problem definition &amp; scope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Problem statement, objectives, scope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wk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43B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T3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Literature &amp; benchmark review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Standards map, UMANG comparison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wks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 research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43B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T4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Information architecture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5-tab IA, sitemap, user flows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wk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Diagrams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43B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T5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Design system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Tokens, type, icons, imagery, motion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wks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Tailwind, Phosphor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43B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T6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Prototype &amp; apply engine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All screens + 42 apply flows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 wks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Next.js, React, 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43B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T7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Saathi AI agent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 missions, consent gate, outcomes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wks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TypeScript, Vitest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43B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T8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Department consoles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 consoles, audit trail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wks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Next.js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43B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T9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Languages &amp; accessibility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 locales, a11y modes, contrast tests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wks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next-intl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43B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T10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Testing, website &amp; submission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Case study, static build, expo deck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wks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Hostinger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Tools &amp;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resources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open-source stack, so the software budget stays at zero.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0604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" name="tile-code"/>
          <p:cNvSpPr/>
          <p:nvPr/>
        </p:nvSpPr>
        <p:spPr>
          <a:xfrm>
            <a:off x="749808" y="246888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EF2FC"/>
          </a:solidFill>
          <a:ln/>
        </p:spPr>
      </p:sp>
      <p:pic>
        <p:nvPicPr>
          <p:cNvPr id="6" name="Image 0" descr="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532" y="2593604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23957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Next.js 14 + React 18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788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framework, static export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55848" y="2194560"/>
            <a:ext cx="260604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0" name="tile-file-ts"/>
          <p:cNvSpPr/>
          <p:nvPr/>
        </p:nvSpPr>
        <p:spPr>
          <a:xfrm>
            <a:off x="3557016" y="246888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EF2FC"/>
          </a:solidFill>
          <a:ln/>
        </p:spPr>
      </p:sp>
      <p:pic>
        <p:nvPicPr>
          <p:cNvPr id="11" name="Image 1" descr="file-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740" y="2593604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70248" y="23957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270248" y="2788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Typed models for flows and agent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63056" y="2194560"/>
            <a:ext cx="260604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5" name="tile-paint-brush"/>
          <p:cNvSpPr/>
          <p:nvPr/>
        </p:nvSpPr>
        <p:spPr>
          <a:xfrm>
            <a:off x="6364224" y="246888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FF6EC"/>
          </a:solidFill>
          <a:ln/>
        </p:spPr>
      </p:sp>
      <p:pic>
        <p:nvPicPr>
          <p:cNvPr id="16" name="Image 2" descr="paint-brus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948" y="2593604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077456" y="23957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Tailwind CSS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7077456" y="2788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tokens as utility classes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970264" y="2194560"/>
            <a:ext cx="260604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0" name="tile-film-strip"/>
          <p:cNvSpPr/>
          <p:nvPr/>
        </p:nvSpPr>
        <p:spPr>
          <a:xfrm>
            <a:off x="9171432" y="246888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FF6EC"/>
          </a:solidFill>
          <a:ln/>
        </p:spPr>
      </p:sp>
      <p:pic>
        <p:nvPicPr>
          <p:cNvPr id="21" name="Image 3" descr="film-stri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156" y="2593604"/>
            <a:ext cx="317480" cy="3174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884664" y="23957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Framer Motion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9884664" y="2788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Springs, transitions, reduced motion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520440"/>
            <a:ext cx="260604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5" name="tile-translate"/>
          <p:cNvSpPr/>
          <p:nvPr/>
        </p:nvSpPr>
        <p:spPr>
          <a:xfrm>
            <a:off x="749808" y="379476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CF8F0"/>
          </a:solidFill>
          <a:ln/>
        </p:spPr>
      </p:sp>
      <p:pic>
        <p:nvPicPr>
          <p:cNvPr id="26" name="Image 4" descr="translat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532" y="3919484"/>
            <a:ext cx="317480" cy="3174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63040" y="37216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next-intl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1463040" y="41148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 locales, live language switch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355848" y="3520440"/>
            <a:ext cx="260604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30" name="tile-shapes"/>
          <p:cNvSpPr/>
          <p:nvPr/>
        </p:nvSpPr>
        <p:spPr>
          <a:xfrm>
            <a:off x="3557016" y="379476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CF8F0"/>
          </a:solidFill>
          <a:ln/>
        </p:spPr>
      </p:sp>
      <p:pic>
        <p:nvPicPr>
          <p:cNvPr id="31" name="Image 5" descr="shap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1740" y="3919484"/>
            <a:ext cx="317480" cy="31748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4270248" y="37216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Phosphor Icons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4270248" y="41148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icon family, three weights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163056" y="3520440"/>
            <a:ext cx="260604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35" name="tile-test-tube"/>
          <p:cNvSpPr/>
          <p:nvPr/>
        </p:nvSpPr>
        <p:spPr>
          <a:xfrm>
            <a:off x="6364224" y="379476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3EFFC"/>
          </a:solidFill>
          <a:ln/>
        </p:spPr>
      </p:sp>
      <p:pic>
        <p:nvPicPr>
          <p:cNvPr id="36" name="Image 6" descr="test-tub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8948" y="3919484"/>
            <a:ext cx="317480" cy="31748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7077456" y="37216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Vitest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7077456" y="41148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tests for agent and contrast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8970264" y="3520440"/>
            <a:ext cx="260604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40" name="tile-git-branch"/>
          <p:cNvSpPr/>
          <p:nvPr/>
        </p:nvSpPr>
        <p:spPr>
          <a:xfrm>
            <a:off x="9171432" y="379476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3EFFC"/>
          </a:solidFill>
          <a:ln/>
        </p:spPr>
      </p:sp>
      <p:pic>
        <p:nvPicPr>
          <p:cNvPr id="41" name="Image 7" descr="git-branch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6156" y="3919484"/>
            <a:ext cx="317480" cy="31748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884664" y="37216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Git &amp; GitHub</a:t>
            </a:r>
            <a:endParaRPr lang="en-US" sz="1300" dirty="0"/>
          </a:p>
        </p:txBody>
      </p:sp>
      <p:sp>
        <p:nvSpPr>
          <p:cNvPr id="43" name="Text 33"/>
          <p:cNvSpPr txBox="1"/>
          <p:nvPr/>
        </p:nvSpPr>
        <p:spPr>
          <a:xfrm>
            <a:off x="9884664" y="41148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 control, one commit per phase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548640" y="4846320"/>
            <a:ext cx="260604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45" name="tile-cloud-arrow-up"/>
          <p:cNvSpPr/>
          <p:nvPr/>
        </p:nvSpPr>
        <p:spPr>
          <a:xfrm>
            <a:off x="749808" y="51206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8F6F4"/>
          </a:solidFill>
          <a:ln/>
        </p:spPr>
      </p:sp>
      <p:pic>
        <p:nvPicPr>
          <p:cNvPr id="46" name="Image 8" descr="cloud-arrow-up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4532" y="5245364"/>
            <a:ext cx="317480" cy="317480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1463040" y="504748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Hostinger</a:t>
            </a:r>
            <a:endParaRPr lang="en-US" sz="1300" dirty="0"/>
          </a:p>
        </p:txBody>
      </p:sp>
      <p:sp>
        <p:nvSpPr>
          <p:cNvPr id="48" name="Text 37"/>
          <p:cNvSpPr txBox="1"/>
          <p:nvPr/>
        </p:nvSpPr>
        <p:spPr>
          <a:xfrm>
            <a:off x="1463040" y="5440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hosting for the live demo</a:t>
            </a:r>
            <a:endParaRPr lang="en-US" sz="1050" dirty="0"/>
          </a:p>
        </p:txBody>
      </p:sp>
      <p:sp>
        <p:nvSpPr>
          <p:cNvPr id="49" name="Shape 38"/>
          <p:cNvSpPr/>
          <p:nvPr/>
        </p:nvSpPr>
        <p:spPr>
          <a:xfrm>
            <a:off x="3355848" y="4846320"/>
            <a:ext cx="260604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0" name="tile-device-mobile"/>
          <p:cNvSpPr/>
          <p:nvPr/>
        </p:nvSpPr>
        <p:spPr>
          <a:xfrm>
            <a:off x="3557016" y="51206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8F6F4"/>
          </a:solidFill>
          <a:ln/>
        </p:spPr>
      </p:sp>
      <p:pic>
        <p:nvPicPr>
          <p:cNvPr id="51" name="Image 9" descr="device-mobil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81740" y="5245364"/>
            <a:ext cx="317480" cy="317480"/>
          </a:xfrm>
          <a:prstGeom prst="rect">
            <a:avLst/>
          </a:prstGeom>
        </p:spPr>
      </p:pic>
      <p:sp>
        <p:nvSpPr>
          <p:cNvPr id="52" name="Text 40"/>
          <p:cNvSpPr txBox="1"/>
          <p:nvPr/>
        </p:nvSpPr>
        <p:spPr>
          <a:xfrm>
            <a:off x="4270248" y="504748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Test devices</a:t>
            </a:r>
            <a:endParaRPr lang="en-US" sz="1300" dirty="0"/>
          </a:p>
        </p:txBody>
      </p:sp>
      <p:sp>
        <p:nvSpPr>
          <p:cNvPr id="53" name="Text 41"/>
          <p:cNvSpPr txBox="1"/>
          <p:nvPr/>
        </p:nvSpPr>
        <p:spPr>
          <a:xfrm>
            <a:off x="4270248" y="5440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Android + iPhone, slow-network mode</a:t>
            </a:r>
            <a:endParaRPr lang="en-US" sz="1050" dirty="0"/>
          </a:p>
        </p:txBody>
      </p:sp>
      <p:sp>
        <p:nvSpPr>
          <p:cNvPr id="54" name="Shape 42"/>
          <p:cNvSpPr/>
          <p:nvPr/>
        </p:nvSpPr>
        <p:spPr>
          <a:xfrm>
            <a:off x="6163056" y="4846320"/>
            <a:ext cx="260604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5" name="tile-text-aa"/>
          <p:cNvSpPr/>
          <p:nvPr/>
        </p:nvSpPr>
        <p:spPr>
          <a:xfrm>
            <a:off x="6364224" y="51206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DEFEE"/>
          </a:solidFill>
          <a:ln/>
        </p:spPr>
      </p:sp>
      <p:pic>
        <p:nvPicPr>
          <p:cNvPr id="56" name="Image 10" descr="text-aa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88948" y="5245364"/>
            <a:ext cx="317480" cy="317480"/>
          </a:xfrm>
          <a:prstGeom prst="rect">
            <a:avLst/>
          </a:prstGeom>
        </p:spPr>
      </p:pic>
      <p:sp>
        <p:nvSpPr>
          <p:cNvPr id="57" name="Text 44"/>
          <p:cNvSpPr txBox="1"/>
          <p:nvPr/>
        </p:nvSpPr>
        <p:spPr>
          <a:xfrm>
            <a:off x="7077456" y="504748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Google Fonts / OFL</a:t>
            </a:r>
            <a:endParaRPr lang="en-US" sz="1300" dirty="0"/>
          </a:p>
        </p:txBody>
      </p:sp>
      <p:sp>
        <p:nvSpPr>
          <p:cNvPr id="58" name="Text 45"/>
          <p:cNvSpPr txBox="1"/>
          <p:nvPr/>
        </p:nvSpPr>
        <p:spPr>
          <a:xfrm>
            <a:off x="7077456" y="5440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Geist, Instrument Serif, Anek, Noto</a:t>
            </a:r>
            <a:endParaRPr lang="en-US" sz="1050" dirty="0"/>
          </a:p>
        </p:txBody>
      </p:sp>
      <p:sp>
        <p:nvSpPr>
          <p:cNvPr id="59" name="Shape 46"/>
          <p:cNvSpPr/>
          <p:nvPr/>
        </p:nvSpPr>
        <p:spPr>
          <a:xfrm>
            <a:off x="8970264" y="4846320"/>
            <a:ext cx="260604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60" name="tile-browser"/>
          <p:cNvSpPr/>
          <p:nvPr/>
        </p:nvSpPr>
        <p:spPr>
          <a:xfrm>
            <a:off x="9171432" y="51206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DEFEE"/>
          </a:solidFill>
          <a:ln/>
        </p:spPr>
      </p:sp>
      <p:pic>
        <p:nvPicPr>
          <p:cNvPr id="61" name="Image 11" descr="browser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96156" y="5245364"/>
            <a:ext cx="317480" cy="317480"/>
          </a:xfrm>
          <a:prstGeom prst="rect">
            <a:avLst/>
          </a:prstGeom>
        </p:spPr>
      </p:pic>
      <p:sp>
        <p:nvSpPr>
          <p:cNvPr id="62" name="Text 48"/>
          <p:cNvSpPr txBox="1"/>
          <p:nvPr/>
        </p:nvSpPr>
        <p:spPr>
          <a:xfrm>
            <a:off x="9884664" y="504748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Chrome DevTools</a:t>
            </a:r>
            <a:endParaRPr lang="en-US" sz="1300" dirty="0"/>
          </a:p>
        </p:txBody>
      </p:sp>
      <p:sp>
        <p:nvSpPr>
          <p:cNvPr id="63" name="Text 49"/>
          <p:cNvSpPr txBox="1"/>
          <p:nvPr/>
        </p:nvSpPr>
        <p:spPr>
          <a:xfrm>
            <a:off x="9884664" y="5440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Lighthouse, accessibility checks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Budget — an indicative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estimate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Student-project costs in ₹. Software, fonts and icons are open-source, so the spend goes on hosting and people.</a:t>
            </a:r>
            <a:endParaRPr lang="en-US" sz="14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54864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8288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Item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Cost (₹)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 hosting (12 months)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2,400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Usability testing — 8 participants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2,000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Field research travel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1,500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Mobile data &amp; internet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1,200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Domain name (1 year)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800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Printing &amp; report binding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600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F4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Software, fonts &amp; icons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2803C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0 · open source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86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Total (estimated)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0286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₹ 8,500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6309360" y="2103120"/>
          <a:ext cx="53492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309360" y="585216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i="1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Indicative estimates for planning; actual prices vary by plan and provider.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Risks &amp;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mitigation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could derail the project, and what is already in place.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6269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RISK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2148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6269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IMPACT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2148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6269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MITIGATION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1109167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45059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Translations read as machine-made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256946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DEF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54880" y="25694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832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High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450592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Hindi, Bengali, Tamil authored by hand; 13 more flagged for native review before any pilot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072384"/>
            <a:ext cx="1109167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07238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Assistant acts without consent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54880" y="3191256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DEFE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754880" y="319125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832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High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3072384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Scripted, reviewable missions; consent gate in code; red-team the agent before release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694176"/>
            <a:ext cx="1109167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694176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Mistaken for an official app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54880" y="381304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F6E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754880" y="38130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B4530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Medium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3694176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 brand mark, no emblem, disclaimer on every page, all data labelled sample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315968"/>
            <a:ext cx="1109167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31596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Scope creep across 42 flows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54880" y="443484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F6E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754880" y="44348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B4530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Medium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035040" y="4315968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shared apply engine; flows are data, not separate screens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937760"/>
            <a:ext cx="1109167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493776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Inaccessible to low-vision users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754880" y="505663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F6E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754880" y="50566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B4530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Medium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035040" y="493776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Contrast tested in code against WCAG 2.1 AA; larger text, read-aloud, slow mode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5559552"/>
            <a:ext cx="1109167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555955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Slow on weak networks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754880" y="567842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CF8F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754880" y="56784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28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Low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035040" y="5559552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export, no 3D libraries, fonts load only for the script in use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Information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tabs. A bare “Apply” tab asks “apply for what?” — so the centre of Saathi is the assistant.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956048" y="2103120"/>
            <a:ext cx="2286000" cy="502920"/>
          </a:xfrm>
          <a:prstGeom prst="roundRect">
            <a:avLst>
              <a:gd name="adj" fmla="val 49091"/>
            </a:avLst>
          </a:prstGeom>
          <a:solidFill>
            <a:srgbClr val="0B0D1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956048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साथी  Saathi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91640" y="2880360"/>
            <a:ext cx="8823960" cy="0"/>
          </a:xfrm>
          <a:prstGeom prst="line">
            <a:avLst/>
          </a:prstGeom>
          <a:noFill/>
          <a:ln w="12700">
            <a:solidFill>
              <a:srgbClr val="D3D8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9048" y="2606040"/>
            <a:ext cx="0" cy="274320"/>
          </a:xfrm>
          <a:prstGeom prst="line">
            <a:avLst/>
          </a:prstGeom>
          <a:noFill/>
          <a:ln w="12700">
            <a:solidFill>
              <a:srgbClr val="D3D8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36776" y="2880360"/>
            <a:ext cx="0" cy="228600"/>
          </a:xfrm>
          <a:prstGeom prst="line">
            <a:avLst/>
          </a:prstGeom>
          <a:noFill/>
          <a:ln w="12700">
            <a:solidFill>
              <a:srgbClr val="D3D8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108960"/>
            <a:ext cx="2176272" cy="3017520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0" name="tile-house"/>
          <p:cNvSpPr/>
          <p:nvPr/>
        </p:nvSpPr>
        <p:spPr>
          <a:xfrm>
            <a:off x="749808" y="331012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EEF2FC"/>
          </a:solidFill>
          <a:ln/>
        </p:spPr>
      </p:sp>
      <p:pic>
        <p:nvPicPr>
          <p:cNvPr id="11" name="Image 0" descr="hou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462" y="3422782"/>
            <a:ext cx="286756" cy="2867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389888" y="331012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Home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95528" y="4160520"/>
            <a:ext cx="91440" cy="91440"/>
          </a:xfrm>
          <a:prstGeom prst="ellipse">
            <a:avLst/>
          </a:prstGeom>
          <a:solidFill>
            <a:srgbClr val="1F43B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05840" y="40416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Saathi ID card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95528" y="4645152"/>
            <a:ext cx="91440" cy="91440"/>
          </a:xfrm>
          <a:prstGeom prst="ellipse">
            <a:avLst/>
          </a:prstGeom>
          <a:solidFill>
            <a:srgbClr val="1F43B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05840" y="4526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Needs attention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95528" y="5129784"/>
            <a:ext cx="91440" cy="91440"/>
          </a:xfrm>
          <a:prstGeom prst="ellipse">
            <a:avLst/>
          </a:prstGeom>
          <a:solidFill>
            <a:srgbClr val="1F43B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05840" y="50109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applications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95528" y="5614416"/>
            <a:ext cx="91440" cy="91440"/>
          </a:xfrm>
          <a:prstGeom prst="ellipse">
            <a:avLst/>
          </a:prstGeom>
          <a:solidFill>
            <a:srgbClr val="1F43B8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05840" y="54955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Schemes for you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877056" y="2880360"/>
            <a:ext cx="0" cy="228600"/>
          </a:xfrm>
          <a:prstGeom prst="line">
            <a:avLst/>
          </a:prstGeom>
          <a:noFill/>
          <a:ln w="12700">
            <a:solidFill>
              <a:srgbClr val="D3D8E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788920" y="3108960"/>
            <a:ext cx="2176272" cy="3017520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3" name="tile-compass"/>
          <p:cNvSpPr/>
          <p:nvPr/>
        </p:nvSpPr>
        <p:spPr>
          <a:xfrm>
            <a:off x="2990088" y="331012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FFF6EC"/>
          </a:solidFill>
          <a:ln/>
        </p:spPr>
      </p:sp>
      <p:pic>
        <p:nvPicPr>
          <p:cNvPr id="24" name="Image 1" descr="compa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742" y="3422782"/>
            <a:ext cx="286756" cy="286756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3630168" y="331012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Explore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3035808" y="4160520"/>
            <a:ext cx="91440" cy="9144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3246120" y="40416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Life moments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3035808" y="4645152"/>
            <a:ext cx="91440" cy="9144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3246120" y="4526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Services (42 flows)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3035808" y="5129784"/>
            <a:ext cx="91440" cy="9144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3246120" y="50109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Schemes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3035808" y="5614416"/>
            <a:ext cx="91440" cy="9144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3246120" y="54955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Search, any language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6117336" y="2880360"/>
            <a:ext cx="0" cy="228600"/>
          </a:xfrm>
          <a:prstGeom prst="line">
            <a:avLst/>
          </a:prstGeom>
          <a:noFill/>
          <a:ln w="12700">
            <a:solidFill>
              <a:srgbClr val="D3D8E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029200" y="3108960"/>
            <a:ext cx="2176272" cy="3017520"/>
          </a:xfrm>
          <a:prstGeom prst="roundRect">
            <a:avLst>
              <a:gd name="adj" fmla="val 6723"/>
            </a:avLst>
          </a:prstGeom>
          <a:solidFill>
            <a:srgbClr val="EEF2FC"/>
          </a:solidFill>
          <a:ln w="9525">
            <a:solidFill>
              <a:srgbClr val="B9C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36" name="tile-sparkle"/>
          <p:cNvSpPr/>
          <p:nvPr/>
        </p:nvSpPr>
        <p:spPr>
          <a:xfrm>
            <a:off x="5230368" y="331012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F3EFFC"/>
          </a:solidFill>
          <a:ln/>
        </p:spPr>
      </p:sp>
      <p:pic>
        <p:nvPicPr>
          <p:cNvPr id="37" name="Image 2" descr="spark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022" y="3422782"/>
            <a:ext cx="286756" cy="286756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5870448" y="331012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Saathi AI</a:t>
            </a:r>
            <a:endParaRPr lang="en-US" sz="1500" dirty="0"/>
          </a:p>
        </p:txBody>
      </p:sp>
      <p:sp>
        <p:nvSpPr>
          <p:cNvPr id="39" name="Shape 34"/>
          <p:cNvSpPr/>
          <p:nvPr/>
        </p:nvSpPr>
        <p:spPr>
          <a:xfrm>
            <a:off x="5276088" y="4160520"/>
            <a:ext cx="91440" cy="91440"/>
          </a:xfrm>
          <a:prstGeom prst="ellipse">
            <a:avLst/>
          </a:prstGeom>
          <a:solidFill>
            <a:srgbClr val="6D4AC8"/>
          </a:solidFill>
          <a:ln/>
        </p:spPr>
      </p:sp>
      <p:sp>
        <p:nvSpPr>
          <p:cNvPr id="40" name="Text 35"/>
          <p:cNvSpPr txBox="1"/>
          <p:nvPr/>
        </p:nvSpPr>
        <p:spPr>
          <a:xfrm>
            <a:off x="5486400" y="40416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by voice or text</a:t>
            </a:r>
            <a:endParaRPr lang="en-US" sz="1150" dirty="0"/>
          </a:p>
        </p:txBody>
      </p:sp>
      <p:sp>
        <p:nvSpPr>
          <p:cNvPr id="41" name="Shape 36"/>
          <p:cNvSpPr/>
          <p:nvPr/>
        </p:nvSpPr>
        <p:spPr>
          <a:xfrm>
            <a:off x="5276088" y="4645152"/>
            <a:ext cx="91440" cy="91440"/>
          </a:xfrm>
          <a:prstGeom prst="ellipse">
            <a:avLst/>
          </a:prstGeom>
          <a:solidFill>
            <a:srgbClr val="6D4AC8"/>
          </a:solidFill>
          <a:ln/>
        </p:spPr>
      </p:sp>
      <p:sp>
        <p:nvSpPr>
          <p:cNvPr id="42" name="Text 37"/>
          <p:cNvSpPr txBox="1"/>
          <p:nvPr/>
        </p:nvSpPr>
        <p:spPr>
          <a:xfrm>
            <a:off x="5486400" y="4526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&amp; sources</a:t>
            </a:r>
            <a:endParaRPr lang="en-US" sz="1150" dirty="0"/>
          </a:p>
        </p:txBody>
      </p:sp>
      <p:sp>
        <p:nvSpPr>
          <p:cNvPr id="43" name="Shape 38"/>
          <p:cNvSpPr/>
          <p:nvPr/>
        </p:nvSpPr>
        <p:spPr>
          <a:xfrm>
            <a:off x="5276088" y="5129784"/>
            <a:ext cx="91440" cy="91440"/>
          </a:xfrm>
          <a:prstGeom prst="ellipse">
            <a:avLst/>
          </a:prstGeom>
          <a:solidFill>
            <a:srgbClr val="6D4AC8"/>
          </a:solidFill>
          <a:ln/>
        </p:spPr>
      </p:sp>
      <p:sp>
        <p:nvSpPr>
          <p:cNvPr id="44" name="Text 39"/>
          <p:cNvSpPr txBox="1"/>
          <p:nvPr/>
        </p:nvSpPr>
        <p:spPr>
          <a:xfrm>
            <a:off x="5486400" y="50109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Consent gate</a:t>
            </a:r>
            <a:endParaRPr lang="en-US" sz="1150" dirty="0"/>
          </a:p>
        </p:txBody>
      </p:sp>
      <p:sp>
        <p:nvSpPr>
          <p:cNvPr id="45" name="Shape 40"/>
          <p:cNvSpPr/>
          <p:nvPr/>
        </p:nvSpPr>
        <p:spPr>
          <a:xfrm>
            <a:off x="5276088" y="5614416"/>
            <a:ext cx="91440" cy="91440"/>
          </a:xfrm>
          <a:prstGeom prst="ellipse">
            <a:avLst/>
          </a:prstGeom>
          <a:solidFill>
            <a:srgbClr val="6D4AC8"/>
          </a:solidFill>
          <a:ln/>
        </p:spPr>
      </p:sp>
      <p:sp>
        <p:nvSpPr>
          <p:cNvPr id="46" name="Text 41"/>
          <p:cNvSpPr txBox="1"/>
          <p:nvPr/>
        </p:nvSpPr>
        <p:spPr>
          <a:xfrm>
            <a:off x="5486400" y="54955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Outcome + receipt</a:t>
            </a:r>
            <a:endParaRPr lang="en-US" sz="1150" dirty="0"/>
          </a:p>
        </p:txBody>
      </p:sp>
      <p:sp>
        <p:nvSpPr>
          <p:cNvPr id="47" name="Shape 42"/>
          <p:cNvSpPr/>
          <p:nvPr/>
        </p:nvSpPr>
        <p:spPr>
          <a:xfrm>
            <a:off x="8357616" y="2880360"/>
            <a:ext cx="0" cy="228600"/>
          </a:xfrm>
          <a:prstGeom prst="line">
            <a:avLst/>
          </a:prstGeom>
          <a:noFill/>
          <a:ln w="12700">
            <a:solidFill>
              <a:srgbClr val="D3D8E2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7269480" y="3108960"/>
            <a:ext cx="2176272" cy="3017520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49" name="tile-list-checks"/>
          <p:cNvSpPr/>
          <p:nvPr/>
        </p:nvSpPr>
        <p:spPr>
          <a:xfrm>
            <a:off x="7470648" y="331012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ECF8F0"/>
          </a:solidFill>
          <a:ln/>
        </p:spPr>
      </p:sp>
      <p:pic>
        <p:nvPicPr>
          <p:cNvPr id="50" name="Image 3" descr="list-check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302" y="3422782"/>
            <a:ext cx="286756" cy="286756"/>
          </a:xfrm>
          <a:prstGeom prst="rect">
            <a:avLst/>
          </a:prstGeom>
        </p:spPr>
      </p:pic>
      <p:sp>
        <p:nvSpPr>
          <p:cNvPr id="51" name="Text 45"/>
          <p:cNvSpPr txBox="1"/>
          <p:nvPr/>
        </p:nvSpPr>
        <p:spPr>
          <a:xfrm>
            <a:off x="8110728" y="331012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Track</a:t>
            </a:r>
            <a:endParaRPr lang="en-US" sz="1500" dirty="0"/>
          </a:p>
        </p:txBody>
      </p:sp>
      <p:sp>
        <p:nvSpPr>
          <p:cNvPr id="52" name="Shape 46"/>
          <p:cNvSpPr/>
          <p:nvPr/>
        </p:nvSpPr>
        <p:spPr>
          <a:xfrm>
            <a:off x="7516368" y="4160520"/>
            <a:ext cx="91440" cy="91440"/>
          </a:xfrm>
          <a:prstGeom prst="ellipse">
            <a:avLst/>
          </a:prstGeom>
          <a:solidFill>
            <a:srgbClr val="12803C"/>
          </a:solidFill>
          <a:ln/>
        </p:spPr>
      </p:sp>
      <p:sp>
        <p:nvSpPr>
          <p:cNvPr id="53" name="Text 47"/>
          <p:cNvSpPr txBox="1"/>
          <p:nvPr/>
        </p:nvSpPr>
        <p:spPr>
          <a:xfrm>
            <a:off x="7726680" y="40416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Applications</a:t>
            </a:r>
            <a:endParaRPr lang="en-US" sz="1150" dirty="0"/>
          </a:p>
        </p:txBody>
      </p:sp>
      <p:sp>
        <p:nvSpPr>
          <p:cNvPr id="54" name="Shape 48"/>
          <p:cNvSpPr/>
          <p:nvPr/>
        </p:nvSpPr>
        <p:spPr>
          <a:xfrm>
            <a:off x="7516368" y="4645152"/>
            <a:ext cx="91440" cy="91440"/>
          </a:xfrm>
          <a:prstGeom prst="ellipse">
            <a:avLst/>
          </a:prstGeom>
          <a:solidFill>
            <a:srgbClr val="12803C"/>
          </a:solidFill>
          <a:ln/>
        </p:spPr>
      </p:sp>
      <p:sp>
        <p:nvSpPr>
          <p:cNvPr id="55" name="Text 49"/>
          <p:cNvSpPr txBox="1"/>
          <p:nvPr/>
        </p:nvSpPr>
        <p:spPr>
          <a:xfrm>
            <a:off x="7726680" y="4526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timeline</a:t>
            </a:r>
            <a:endParaRPr lang="en-US" sz="1150" dirty="0"/>
          </a:p>
        </p:txBody>
      </p:sp>
      <p:sp>
        <p:nvSpPr>
          <p:cNvPr id="56" name="Shape 50"/>
          <p:cNvSpPr/>
          <p:nvPr/>
        </p:nvSpPr>
        <p:spPr>
          <a:xfrm>
            <a:off x="7516368" y="5129784"/>
            <a:ext cx="91440" cy="91440"/>
          </a:xfrm>
          <a:prstGeom prst="ellipse">
            <a:avLst/>
          </a:prstGeom>
          <a:solidFill>
            <a:srgbClr val="12803C"/>
          </a:solidFill>
          <a:ln/>
        </p:spPr>
      </p:sp>
      <p:sp>
        <p:nvSpPr>
          <p:cNvPr id="57" name="Text 51"/>
          <p:cNvSpPr txBox="1"/>
          <p:nvPr/>
        </p:nvSpPr>
        <p:spPr>
          <a:xfrm>
            <a:off x="7726680" y="50109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Named officers</a:t>
            </a:r>
            <a:endParaRPr lang="en-US" sz="1150" dirty="0"/>
          </a:p>
        </p:txBody>
      </p:sp>
      <p:sp>
        <p:nvSpPr>
          <p:cNvPr id="58" name="Shape 52"/>
          <p:cNvSpPr/>
          <p:nvPr/>
        </p:nvSpPr>
        <p:spPr>
          <a:xfrm>
            <a:off x="7516368" y="5614416"/>
            <a:ext cx="91440" cy="91440"/>
          </a:xfrm>
          <a:prstGeom prst="ellipse">
            <a:avLst/>
          </a:prstGeom>
          <a:solidFill>
            <a:srgbClr val="12803C"/>
          </a:solidFill>
          <a:ln/>
        </p:spPr>
      </p:sp>
      <p:sp>
        <p:nvSpPr>
          <p:cNvPr id="59" name="Text 53"/>
          <p:cNvSpPr txBox="1"/>
          <p:nvPr/>
        </p:nvSpPr>
        <p:spPr>
          <a:xfrm>
            <a:off x="7726680" y="54955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“Why the delay?”</a:t>
            </a:r>
            <a:endParaRPr lang="en-US" sz="1150" dirty="0"/>
          </a:p>
        </p:txBody>
      </p:sp>
      <p:sp>
        <p:nvSpPr>
          <p:cNvPr id="60" name="Shape 54"/>
          <p:cNvSpPr/>
          <p:nvPr/>
        </p:nvSpPr>
        <p:spPr>
          <a:xfrm>
            <a:off x="10597896" y="2880360"/>
            <a:ext cx="0" cy="228600"/>
          </a:xfrm>
          <a:prstGeom prst="line">
            <a:avLst/>
          </a:prstGeom>
          <a:noFill/>
          <a:ln w="12700">
            <a:solidFill>
              <a:srgbClr val="D3D8E2"/>
            </a:solidFill>
            <a:prstDash val="solid"/>
          </a:ln>
        </p:spPr>
      </p:sp>
      <p:sp>
        <p:nvSpPr>
          <p:cNvPr id="61" name="Shape 55"/>
          <p:cNvSpPr/>
          <p:nvPr/>
        </p:nvSpPr>
        <p:spPr>
          <a:xfrm>
            <a:off x="9509760" y="3108960"/>
            <a:ext cx="2176272" cy="3017520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62" name="tile-user-circle"/>
          <p:cNvSpPr/>
          <p:nvPr/>
        </p:nvSpPr>
        <p:spPr>
          <a:xfrm>
            <a:off x="9710928" y="331012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E8F6F4"/>
          </a:solidFill>
          <a:ln/>
        </p:spPr>
      </p:sp>
      <p:pic>
        <p:nvPicPr>
          <p:cNvPr id="63" name="Image 4" descr="user-circ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3582" y="3422782"/>
            <a:ext cx="286756" cy="286756"/>
          </a:xfrm>
          <a:prstGeom prst="rect">
            <a:avLst/>
          </a:prstGeom>
        </p:spPr>
      </p:pic>
      <p:sp>
        <p:nvSpPr>
          <p:cNvPr id="64" name="Text 57"/>
          <p:cNvSpPr txBox="1"/>
          <p:nvPr/>
        </p:nvSpPr>
        <p:spPr>
          <a:xfrm>
            <a:off x="10351008" y="331012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</a:t>
            </a:r>
            <a:endParaRPr lang="en-US" sz="1500" dirty="0"/>
          </a:p>
        </p:txBody>
      </p:sp>
      <p:sp>
        <p:nvSpPr>
          <p:cNvPr id="65" name="Shape 58"/>
          <p:cNvSpPr/>
          <p:nvPr/>
        </p:nvSpPr>
        <p:spPr>
          <a:xfrm>
            <a:off x="9756648" y="4160520"/>
            <a:ext cx="91440" cy="91440"/>
          </a:xfrm>
          <a:prstGeom prst="ellipse">
            <a:avLst/>
          </a:prstGeom>
          <a:solidFill>
            <a:srgbClr val="0F7A6E"/>
          </a:solidFill>
          <a:ln/>
        </p:spPr>
      </p:sp>
      <p:sp>
        <p:nvSpPr>
          <p:cNvPr id="66" name="Text 59"/>
          <p:cNvSpPr txBox="1"/>
          <p:nvPr/>
        </p:nvSpPr>
        <p:spPr>
          <a:xfrm>
            <a:off x="9966960" y="40416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wallet</a:t>
            </a:r>
            <a:endParaRPr lang="en-US" sz="1150" dirty="0"/>
          </a:p>
        </p:txBody>
      </p:sp>
      <p:sp>
        <p:nvSpPr>
          <p:cNvPr id="67" name="Shape 60"/>
          <p:cNvSpPr/>
          <p:nvPr/>
        </p:nvSpPr>
        <p:spPr>
          <a:xfrm>
            <a:off x="9756648" y="4645152"/>
            <a:ext cx="91440" cy="91440"/>
          </a:xfrm>
          <a:prstGeom prst="ellipse">
            <a:avLst/>
          </a:prstGeom>
          <a:solidFill>
            <a:srgbClr val="0F7A6E"/>
          </a:solidFill>
          <a:ln/>
        </p:spPr>
      </p:sp>
      <p:sp>
        <p:nvSpPr>
          <p:cNvPr id="68" name="Text 61"/>
          <p:cNvSpPr txBox="1"/>
          <p:nvPr/>
        </p:nvSpPr>
        <p:spPr>
          <a:xfrm>
            <a:off x="9966960" y="4526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Family / proxy</a:t>
            </a:r>
            <a:endParaRPr lang="en-US" sz="1150" dirty="0"/>
          </a:p>
        </p:txBody>
      </p:sp>
      <p:sp>
        <p:nvSpPr>
          <p:cNvPr id="69" name="Shape 62"/>
          <p:cNvSpPr/>
          <p:nvPr/>
        </p:nvSpPr>
        <p:spPr>
          <a:xfrm>
            <a:off x="9756648" y="5129784"/>
            <a:ext cx="91440" cy="91440"/>
          </a:xfrm>
          <a:prstGeom prst="ellipse">
            <a:avLst/>
          </a:prstGeom>
          <a:solidFill>
            <a:srgbClr val="0F7A6E"/>
          </a:solidFill>
          <a:ln/>
        </p:spPr>
      </p:sp>
      <p:sp>
        <p:nvSpPr>
          <p:cNvPr id="70" name="Text 63"/>
          <p:cNvSpPr txBox="1"/>
          <p:nvPr/>
        </p:nvSpPr>
        <p:spPr>
          <a:xfrm>
            <a:off x="9966960" y="50109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Privacy dashboard</a:t>
            </a:r>
            <a:endParaRPr lang="en-US" sz="1150" dirty="0"/>
          </a:p>
        </p:txBody>
      </p:sp>
      <p:sp>
        <p:nvSpPr>
          <p:cNvPr id="71" name="Shape 64"/>
          <p:cNvSpPr/>
          <p:nvPr/>
        </p:nvSpPr>
        <p:spPr>
          <a:xfrm>
            <a:off x="9756648" y="5614416"/>
            <a:ext cx="91440" cy="91440"/>
          </a:xfrm>
          <a:prstGeom prst="ellipse">
            <a:avLst/>
          </a:prstGeom>
          <a:solidFill>
            <a:srgbClr val="0F7A6E"/>
          </a:solidFill>
          <a:ln/>
        </p:spPr>
      </p:sp>
      <p:sp>
        <p:nvSpPr>
          <p:cNvPr id="72" name="Text 65"/>
          <p:cNvSpPr txBox="1"/>
          <p:nvPr/>
        </p:nvSpPr>
        <p:spPr>
          <a:xfrm>
            <a:off x="9966960" y="54955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 &amp; access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 flow — Saathi AI asks before it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acts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Rakesh asks for his daughter's birth certificate, in Hindi. Four steps, one consent, real proof.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33472" cy="41148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3042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3042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Ask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4087368"/>
            <a:ext cx="146304" cy="1463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64992" y="2103120"/>
            <a:ext cx="2633472" cy="41148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593592" y="23042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050792" y="23042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Plan</a:t>
            </a:r>
            <a:endParaRPr lang="en-US" sz="16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4087368"/>
            <a:ext cx="146304" cy="14630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81344" y="2103120"/>
            <a:ext cx="2633472" cy="4114800"/>
          </a:xfrm>
          <a:prstGeom prst="roundRect">
            <a:avLst>
              <a:gd name="adj" fmla="val 5556"/>
            </a:avLst>
          </a:prstGeom>
          <a:solidFill>
            <a:srgbClr val="0A1C54"/>
          </a:solidFill>
          <a:ln w="9525">
            <a:solidFill>
              <a:srgbClr val="0A1C54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409944" y="23042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i="1" dirty="0">
                <a:solidFill>
                  <a:srgbClr val="FFB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6867144" y="23042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Approve</a:t>
            </a:r>
            <a:endParaRPr lang="en-US" sz="16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04" y="4087368"/>
            <a:ext cx="146304" cy="14630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997696" y="2103120"/>
            <a:ext cx="2633472" cy="41148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9226296" y="23042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9683496" y="23042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Done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777240" y="2788920"/>
            <a:ext cx="2176272" cy="1051560"/>
          </a:xfrm>
          <a:prstGeom prst="roundRect">
            <a:avLst>
              <a:gd name="adj" fmla="val 13913"/>
            </a:avLst>
          </a:prstGeom>
          <a:solidFill>
            <a:srgbClr val="1F43B8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914400" y="278892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मेरी बेटी का जन्म प्रमाणपत्र बनवाना है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777240" y="3977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3A3F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 need to get my daughter's birth certificate”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77240" y="4892040"/>
            <a:ext cx="502920" cy="502920"/>
          </a:xfrm>
          <a:prstGeom prst="ellipse">
            <a:avLst/>
          </a:prstGeom>
          <a:solidFill>
            <a:srgbClr val="0B0D14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5020056"/>
            <a:ext cx="246888" cy="24688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389888" y="48463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voice or text, in any of 17 languages</a:t>
            </a:r>
            <a:endParaRPr lang="en-US" sz="10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3592" y="2779776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931920" y="2743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Fetch the hospital birth record from DigiLocker</a:t>
            </a:r>
            <a:endParaRPr lang="en-US" sz="115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3592" y="3493008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3931920" y="345643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Fill Form 1 for e-District</a:t>
            </a:r>
            <a:endParaRPr lang="en-US" sz="115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3592" y="4206240"/>
            <a:ext cx="237744" cy="237744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3931920" y="4169664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Janani Suraksha Yojana eligibility</a:t>
            </a:r>
            <a:endParaRPr lang="en-US" sz="11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93592" y="4919472"/>
            <a:ext cx="237744" cy="237744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3931920" y="488289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to Nagar Nigam, Kanpur</a:t>
            </a:r>
            <a:endParaRPr lang="en-US" sz="1150" dirty="0"/>
          </a:p>
        </p:txBody>
      </p:sp>
      <p:sp>
        <p:nvSpPr>
          <p:cNvPr id="33" name="Text 23"/>
          <p:cNvSpPr txBox="1"/>
          <p:nvPr/>
        </p:nvSpPr>
        <p:spPr>
          <a:xfrm>
            <a:off x="3593592" y="5669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1633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step names its official source</a:t>
            </a:r>
            <a:endParaRPr lang="en-US" sz="1050" dirty="0"/>
          </a:p>
        </p:txBody>
      </p:sp>
      <p:sp>
        <p:nvSpPr>
          <p:cNvPr id="34" name="Text 24"/>
          <p:cNvSpPr txBox="1"/>
          <p:nvPr/>
        </p:nvSpPr>
        <p:spPr>
          <a:xfrm>
            <a:off x="6409944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Share with Nagar Nigam, Kanpur?</a:t>
            </a:r>
            <a:endParaRPr lang="en-US" sz="130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9944" y="3429000"/>
            <a:ext cx="201168" cy="201168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6711696" y="3383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DE5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name and address</a:t>
            </a:r>
            <a:endParaRPr lang="en-US" sz="1150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9944" y="3840480"/>
            <a:ext cx="201168" cy="201168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6711696" y="37947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DE5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Aanya's hospital birth record</a:t>
            </a:r>
            <a:endParaRPr lang="en-US" sz="1150" dirty="0"/>
          </a:p>
        </p:txBody>
      </p:sp>
      <p:sp>
        <p:nvSpPr>
          <p:cNvPr id="39" name="Text 27"/>
          <p:cNvSpPr txBox="1"/>
          <p:nvPr/>
        </p:nvSpPr>
        <p:spPr>
          <a:xfrm>
            <a:off x="6409944" y="4297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B9C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 until the application closes</a:t>
            </a:r>
            <a:endParaRPr lang="en-US" sz="1050" dirty="0"/>
          </a:p>
        </p:txBody>
      </p:sp>
      <p:sp>
        <p:nvSpPr>
          <p:cNvPr id="40" name="Shape 28"/>
          <p:cNvSpPr/>
          <p:nvPr/>
        </p:nvSpPr>
        <p:spPr>
          <a:xfrm>
            <a:off x="6409944" y="4754880"/>
            <a:ext cx="114300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1" name="Text 29"/>
          <p:cNvSpPr txBox="1"/>
          <p:nvPr/>
        </p:nvSpPr>
        <p:spPr>
          <a:xfrm>
            <a:off x="6409944" y="475488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A1C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Approve</a:t>
            </a:r>
            <a:endParaRPr lang="en-US" sz="1200" dirty="0"/>
          </a:p>
        </p:txBody>
      </p:sp>
      <p:sp>
        <p:nvSpPr>
          <p:cNvPr id="42" name="Shape 30"/>
          <p:cNvSpPr/>
          <p:nvPr/>
        </p:nvSpPr>
        <p:spPr>
          <a:xfrm>
            <a:off x="7644384" y="4754880"/>
            <a:ext cx="914400" cy="438912"/>
          </a:xfrm>
          <a:prstGeom prst="roundRect">
            <a:avLst>
              <a:gd name="adj" fmla="val 50000"/>
            </a:avLst>
          </a:prstGeom>
          <a:solidFill>
            <a:srgbClr val="10286F"/>
          </a:solidFill>
          <a:ln w="9525">
            <a:solidFill>
              <a:srgbClr val="2F55D4"/>
            </a:solidFill>
            <a:prstDash val="solid"/>
          </a:ln>
        </p:spPr>
      </p:sp>
      <p:sp>
        <p:nvSpPr>
          <p:cNvPr id="43" name="Text 31"/>
          <p:cNvSpPr txBox="1"/>
          <p:nvPr/>
        </p:nvSpPr>
        <p:spPr>
          <a:xfrm>
            <a:off x="7644384" y="47548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Edit</a:t>
            </a:r>
            <a:endParaRPr lang="en-US" sz="1200" dirty="0"/>
          </a:p>
        </p:txBody>
      </p:sp>
      <p:sp>
        <p:nvSpPr>
          <p:cNvPr id="44" name="Text 32"/>
          <p:cNvSpPr txBox="1"/>
          <p:nvPr/>
        </p:nvSpPr>
        <p:spPr>
          <a:xfrm>
            <a:off x="6409944" y="5486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FFB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leaves the phone without a yes</a:t>
            </a:r>
            <a:endParaRPr lang="en-US" sz="1050" dirty="0"/>
          </a:p>
        </p:txBody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26296" y="2743200"/>
            <a:ext cx="457200" cy="457200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9774936" y="2743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Application submitted</a:t>
            </a:r>
            <a:endParaRPr lang="en-US" sz="1300" dirty="0"/>
          </a:p>
        </p:txBody>
      </p:sp>
      <p:sp>
        <p:nvSpPr>
          <p:cNvPr id="47" name="Text 34"/>
          <p:cNvSpPr txBox="1"/>
          <p:nvPr/>
        </p:nvSpPr>
        <p:spPr>
          <a:xfrm>
            <a:off x="9226296" y="3337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3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SAA-2026-457029</a:t>
            </a:r>
            <a:endParaRPr lang="en-US" sz="1200" dirty="0"/>
          </a:p>
        </p:txBody>
      </p:sp>
      <p:sp>
        <p:nvSpPr>
          <p:cNvPr id="48" name="Text 35"/>
          <p:cNvSpPr txBox="1"/>
          <p:nvPr/>
        </p:nvSpPr>
        <p:spPr>
          <a:xfrm>
            <a:off x="9226296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Priya Nair is reviewing it</a:t>
            </a:r>
            <a:endParaRPr lang="en-US" sz="1150" dirty="0"/>
          </a:p>
        </p:txBody>
      </p:sp>
      <p:sp>
        <p:nvSpPr>
          <p:cNvPr id="49" name="Text 36"/>
          <p:cNvSpPr txBox="1"/>
          <p:nvPr/>
        </p:nvSpPr>
        <p:spPr>
          <a:xfrm>
            <a:off x="9226296" y="4005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Certificate expected in 7 days</a:t>
            </a:r>
            <a:endParaRPr lang="en-US" sz="1150" dirty="0"/>
          </a:p>
        </p:txBody>
      </p:sp>
      <p:sp>
        <p:nvSpPr>
          <p:cNvPr id="50" name="Shape 37"/>
          <p:cNvSpPr/>
          <p:nvPr/>
        </p:nvSpPr>
        <p:spPr>
          <a:xfrm>
            <a:off x="9226296" y="4526280"/>
            <a:ext cx="2176272" cy="960120"/>
          </a:xfrm>
          <a:prstGeom prst="roundRect">
            <a:avLst>
              <a:gd name="adj" fmla="val 11429"/>
            </a:avLst>
          </a:prstGeom>
          <a:solidFill>
            <a:srgbClr val="FFF6EC"/>
          </a:solidFill>
          <a:ln/>
        </p:spPr>
      </p:sp>
      <p:sp>
        <p:nvSpPr>
          <p:cNvPr id="51" name="Text 38"/>
          <p:cNvSpPr txBox="1"/>
          <p:nvPr/>
        </p:nvSpPr>
        <p:spPr>
          <a:xfrm>
            <a:off x="9363456" y="452628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B4530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may also get ₹1,400 under Janani Suraksha Yojana.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Design system — Bharat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Precision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Calm enough to trust with a pension, precise enough to feel world-class.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6269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COLOUR WITH A JOB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621792" cy="621792"/>
          </a:xfrm>
          <a:prstGeom prst="roundRect">
            <a:avLst>
              <a:gd name="adj" fmla="val 23529"/>
            </a:avLst>
          </a:prstGeom>
          <a:solidFill>
            <a:srgbClr val="1F43B8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25880" y="24871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Chakra Navy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7797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#1F43B8  ·  Actions, links, focus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621792" cy="621792"/>
          </a:xfrm>
          <a:prstGeom prst="roundRect">
            <a:avLst>
              <a:gd name="adj" fmla="val 23529"/>
            </a:avLst>
          </a:prstGeom>
          <a:solidFill>
            <a:srgbClr val="12803C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32186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India Green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5112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#12803C  ·  Verified, approved, done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621792" cy="621792"/>
          </a:xfrm>
          <a:prstGeom prst="roundRect">
            <a:avLst>
              <a:gd name="adj" fmla="val 23529"/>
            </a:avLst>
          </a:prstGeom>
          <a:solidFill>
            <a:srgbClr val="FF8A1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25880" y="39502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Saffron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2428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#FF8A1F  ·  Highlights — never body text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621792" cy="621792"/>
          </a:xfrm>
          <a:prstGeom prst="roundRect">
            <a:avLst>
              <a:gd name="adj" fmla="val 23529"/>
            </a:avLst>
          </a:prstGeom>
          <a:solidFill>
            <a:srgbClr val="0B0D14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25880" y="46817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Ink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9743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#0B0D14  ·  Text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394960"/>
            <a:ext cx="621792" cy="621792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25880" y="54132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White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7058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#FFFFFF  ·  Every surface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26280" y="2148840"/>
            <a:ext cx="3566160" cy="40233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754880" y="23317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6269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TYPE ACROSS SCRIPTS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26060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Aa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5806440" y="26060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8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Precision.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4754880" y="35204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0B0D1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साथी</a:t>
            </a:r>
            <a:endParaRPr lang="en-US" sz="3200" dirty="0"/>
          </a:p>
        </p:txBody>
      </p:sp>
      <p:sp>
        <p:nvSpPr>
          <p:cNvPr id="25" name="Text 23"/>
          <p:cNvSpPr txBox="1"/>
          <p:nvPr/>
        </p:nvSpPr>
        <p:spPr>
          <a:xfrm>
            <a:off x="6035040" y="35204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3F4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நான் உதவலாம்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754880" y="4343400"/>
            <a:ext cx="3154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Geist for Latin UI · Instrument Serif for one emotive word · Anek (Ek Type, an Indian foundry) for Indic headlines · Noto Sans for Indic body at 1.8 line-height (UX4G) · Tiro Devanagari for the wordmark.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321040" y="2148840"/>
            <a:ext cx="3319272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8" name="tile-flower-lotus"/>
          <p:cNvSpPr/>
          <p:nvPr/>
        </p:nvSpPr>
        <p:spPr>
          <a:xfrm>
            <a:off x="8458200" y="233172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FF6EC"/>
          </a:solidFill>
          <a:ln/>
        </p:spPr>
      </p:sp>
      <p:pic>
        <p:nvPicPr>
          <p:cNvPr id="29" name="Image 0" descr="flower-lot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8901" y="2452421"/>
            <a:ext cx="307238" cy="307238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9144000" y="22402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Kolam &amp; guilloche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9144000" y="251460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Imagery made in code — kolam line art and security linework. No stock photos, no maps.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8321040" y="3172968"/>
            <a:ext cx="3319272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33" name="tile-shapes"/>
          <p:cNvSpPr/>
          <p:nvPr/>
        </p:nvSpPr>
        <p:spPr>
          <a:xfrm>
            <a:off x="8458200" y="3355848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EEF2FC"/>
          </a:solidFill>
          <a:ln/>
        </p:spPr>
      </p:sp>
      <p:pic>
        <p:nvPicPr>
          <p:cNvPr id="34" name="Image 1" descr="shap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8901" y="3476549"/>
            <a:ext cx="307238" cy="307238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9144000" y="32644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Phosphor, one family</a:t>
            </a:r>
            <a:endParaRPr lang="en-US" sz="1250" dirty="0"/>
          </a:p>
        </p:txBody>
      </p:sp>
      <p:sp>
        <p:nvSpPr>
          <p:cNvPr id="36" name="Text 32"/>
          <p:cNvSpPr txBox="1"/>
          <p:nvPr/>
        </p:nvSpPr>
        <p:spPr>
          <a:xfrm>
            <a:off x="9144000" y="353872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Regular for chrome, duotone for tiles, fill for the active tab.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8321040" y="4197096"/>
            <a:ext cx="3319272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38" name="tile-wave-sine"/>
          <p:cNvSpPr/>
          <p:nvPr/>
        </p:nvSpPr>
        <p:spPr>
          <a:xfrm>
            <a:off x="8458200" y="4379976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ECF8F0"/>
          </a:solidFill>
          <a:ln/>
        </p:spPr>
      </p:sp>
      <p:pic>
        <p:nvPicPr>
          <p:cNvPr id="39" name="Image 2" descr="wave-si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8901" y="4500677"/>
            <a:ext cx="307238" cy="307238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9144000" y="42885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Motion with a reason</a:t>
            </a:r>
            <a:endParaRPr lang="en-US" sz="1250" dirty="0"/>
          </a:p>
        </p:txBody>
      </p:sp>
      <p:sp>
        <p:nvSpPr>
          <p:cNvPr id="41" name="Text 36"/>
          <p:cNvSpPr txBox="1"/>
          <p:nvPr/>
        </p:nvSpPr>
        <p:spPr>
          <a:xfrm>
            <a:off x="9144000" y="456285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motion under 300 ms, always interruptible; fades only for reduced motion.</a:t>
            </a:r>
            <a:endParaRPr lang="en-US" sz="950" dirty="0"/>
          </a:p>
        </p:txBody>
      </p:sp>
      <p:sp>
        <p:nvSpPr>
          <p:cNvPr id="42" name="Shape 37"/>
          <p:cNvSpPr/>
          <p:nvPr/>
        </p:nvSpPr>
        <p:spPr>
          <a:xfrm>
            <a:off x="8321040" y="5221224"/>
            <a:ext cx="3319272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43" name="tile-check-square"/>
          <p:cNvSpPr/>
          <p:nvPr/>
        </p:nvSpPr>
        <p:spPr>
          <a:xfrm>
            <a:off x="8458200" y="5404104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3EFFC"/>
          </a:solidFill>
          <a:ln/>
        </p:spPr>
      </p:sp>
      <p:pic>
        <p:nvPicPr>
          <p:cNvPr id="44" name="Image 3" descr="check-squar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8901" y="5524805"/>
            <a:ext cx="307238" cy="307238"/>
          </a:xfrm>
          <a:prstGeom prst="rect">
            <a:avLst/>
          </a:prstGeom>
        </p:spPr>
      </p:pic>
      <p:sp>
        <p:nvSpPr>
          <p:cNvPr id="45" name="Text 39"/>
          <p:cNvSpPr txBox="1"/>
          <p:nvPr/>
        </p:nvSpPr>
        <p:spPr>
          <a:xfrm>
            <a:off x="9144000" y="531266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Contrast, tested</a:t>
            </a:r>
            <a:endParaRPr lang="en-US" sz="1250" dirty="0"/>
          </a:p>
        </p:txBody>
      </p:sp>
      <p:sp>
        <p:nvSpPr>
          <p:cNvPr id="46" name="Text 40"/>
          <p:cNvSpPr txBox="1"/>
          <p:nvPr/>
        </p:nvSpPr>
        <p:spPr>
          <a:xfrm>
            <a:off x="9144000" y="558698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text colour checked ≥ 4.5:1 against WCAG 2.1 AA in automated tests.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Preliminary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screens</a:t>
            </a:r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— citizen app</a:t>
            </a: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Onboarding with consent, a home that knows what needs attention, and services found by life moment.</a:t>
            </a:r>
            <a:endParaRPr lang="en-US" sz="1450" dirty="0"/>
          </a:p>
        </p:txBody>
      </p:sp>
      <p:pic>
        <p:nvPicPr>
          <p:cNvPr id="4" name="Image 0" descr="Saathi prototype screen: ph_onboar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635" y="2057400"/>
            <a:ext cx="1712928" cy="3337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468112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Onboarding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760720"/>
            <a:ext cx="27729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 first — 17 today</a:t>
            </a:r>
            <a:endParaRPr lang="en-US" sz="1100" dirty="0"/>
          </a:p>
        </p:txBody>
      </p:sp>
      <p:pic>
        <p:nvPicPr>
          <p:cNvPr id="7" name="Image 1" descr="Saathi prototype screen: ph_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553" y="2057400"/>
            <a:ext cx="1712928" cy="33375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321558" y="5468112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Home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3321558" y="5760720"/>
            <a:ext cx="27729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Identity, nudges, applications</a:t>
            </a:r>
            <a:endParaRPr lang="en-US" sz="1100" dirty="0"/>
          </a:p>
        </p:txBody>
      </p:sp>
      <p:pic>
        <p:nvPicPr>
          <p:cNvPr id="10" name="Image 2" descr="Saathi prototype screen: ph_explo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471" y="2057400"/>
            <a:ext cx="1712928" cy="33375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094476" y="5468112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Explore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6094476" y="5760720"/>
            <a:ext cx="27729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Life moments, services, schemes</a:t>
            </a:r>
            <a:endParaRPr lang="en-US" sz="1100" dirty="0"/>
          </a:p>
        </p:txBody>
      </p:sp>
      <p:pic>
        <p:nvPicPr>
          <p:cNvPr id="13" name="Image 3" descr="Saathi prototype screen: ph_mom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7389" y="2057400"/>
            <a:ext cx="1712928" cy="333756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867394" y="5468112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new baby</a:t>
            </a:r>
            <a:endParaRPr lang="en-US" sz="1400" dirty="0"/>
          </a:p>
        </p:txBody>
      </p:sp>
      <p:sp>
        <p:nvSpPr>
          <p:cNvPr id="15" name="Text 9"/>
          <p:cNvSpPr txBox="1"/>
          <p:nvPr/>
        </p:nvSpPr>
        <p:spPr>
          <a:xfrm>
            <a:off x="8867394" y="5760720"/>
            <a:ext cx="27729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checklist, many departments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Preliminary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screens</a:t>
            </a:r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— trust &amp; status</a:t>
            </a: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assistant, the timeline and the wallet — where trust is earned.</a:t>
            </a:r>
            <a:endParaRPr lang="en-US" sz="1450" dirty="0"/>
          </a:p>
        </p:txBody>
      </p:sp>
      <p:pic>
        <p:nvPicPr>
          <p:cNvPr id="4" name="Image 0" descr="Saathi prototype screen: ph_saat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635" y="2057400"/>
            <a:ext cx="1712928" cy="3337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468112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Saathi AI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760720"/>
            <a:ext cx="27729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in any words</a:t>
            </a:r>
            <a:endParaRPr lang="en-US" sz="1100" dirty="0"/>
          </a:p>
        </p:txBody>
      </p:sp>
      <p:pic>
        <p:nvPicPr>
          <p:cNvPr id="7" name="Image 1" descr="Saathi prototype screen: ph_tr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553" y="2057400"/>
            <a:ext cx="1712928" cy="33375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321558" y="5468112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Track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3321558" y="5760720"/>
            <a:ext cx="27729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Stages, officers and dates</a:t>
            </a:r>
            <a:endParaRPr lang="en-US" sz="1100" dirty="0"/>
          </a:p>
        </p:txBody>
      </p:sp>
      <p:pic>
        <p:nvPicPr>
          <p:cNvPr id="10" name="Image 2" descr="Saathi prototype screen: ph_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471" y="2057400"/>
            <a:ext cx="1712928" cy="33375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094476" y="5468112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6094476" y="5760720"/>
            <a:ext cx="27729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Tinted document wallet</a:t>
            </a:r>
            <a:endParaRPr lang="en-US" sz="1100" dirty="0"/>
          </a:p>
        </p:txBody>
      </p:sp>
      <p:pic>
        <p:nvPicPr>
          <p:cNvPr id="13" name="Image 3" descr="Saathi prototype screen: ph_privac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7389" y="2057400"/>
            <a:ext cx="1712928" cy="333756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867394" y="5468112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Privacy &amp; consent</a:t>
            </a:r>
            <a:endParaRPr lang="en-US" sz="1400" dirty="0"/>
          </a:p>
        </p:txBody>
      </p:sp>
      <p:sp>
        <p:nvSpPr>
          <p:cNvPr id="15" name="Text 9"/>
          <p:cNvSpPr txBox="1"/>
          <p:nvPr/>
        </p:nvSpPr>
        <p:spPr>
          <a:xfrm>
            <a:off x="8867394" y="5760720"/>
            <a:ext cx="27729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used your data — revoke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Both sides of the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counter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citizen's website and the officer's console — every decision reaches the citizen live, in their language.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458968" cy="3672459"/>
          </a:xfrm>
          <a:prstGeom prst="roundRect">
            <a:avLst>
              <a:gd name="adj" fmla="val 3486"/>
            </a:avLst>
          </a:prstGeom>
          <a:solidFill>
            <a:srgbClr val="EEF0F4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2240280"/>
            <a:ext cx="91440" cy="91440"/>
          </a:xfrm>
          <a:prstGeom prst="ellipse">
            <a:avLst/>
          </a:prstGeom>
          <a:solidFill>
            <a:srgbClr val="C8322B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2240280"/>
            <a:ext cx="91440" cy="91440"/>
          </a:xfrm>
          <a:prstGeom prst="ellipse">
            <a:avLst/>
          </a:prstGeom>
          <a:solidFill>
            <a:srgbClr val="FF8A1F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2240280"/>
            <a:ext cx="91440" cy="91440"/>
          </a:xfrm>
          <a:prstGeom prst="ellipse">
            <a:avLst/>
          </a:prstGeom>
          <a:solidFill>
            <a:srgbClr val="12803C"/>
          </a:solidFill>
          <a:ln/>
        </p:spPr>
      </p:sp>
      <p:pic>
        <p:nvPicPr>
          <p:cNvPr id="8" name="Image 0" descr="Screenshot: 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2423160"/>
            <a:ext cx="5349240" cy="334327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81344" y="2148840"/>
            <a:ext cx="5458968" cy="3672459"/>
          </a:xfrm>
          <a:prstGeom prst="roundRect">
            <a:avLst>
              <a:gd name="adj" fmla="val 3486"/>
            </a:avLst>
          </a:prstGeom>
          <a:solidFill>
            <a:srgbClr val="EEF0F4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27648" y="2240280"/>
            <a:ext cx="91440" cy="91440"/>
          </a:xfrm>
          <a:prstGeom prst="ellipse">
            <a:avLst/>
          </a:prstGeom>
          <a:solidFill>
            <a:srgbClr val="C8322B"/>
          </a:solidFill>
          <a:ln/>
        </p:spPr>
      </p:sp>
      <p:sp>
        <p:nvSpPr>
          <p:cNvPr id="11" name="Shape 8"/>
          <p:cNvSpPr/>
          <p:nvPr/>
        </p:nvSpPr>
        <p:spPr>
          <a:xfrm>
            <a:off x="6483096" y="2240280"/>
            <a:ext cx="91440" cy="91440"/>
          </a:xfrm>
          <a:prstGeom prst="ellipse">
            <a:avLst/>
          </a:prstGeom>
          <a:solidFill>
            <a:srgbClr val="FF8A1F"/>
          </a:solidFill>
          <a:ln/>
        </p:spPr>
      </p:sp>
      <p:sp>
        <p:nvSpPr>
          <p:cNvPr id="12" name="Shape 9"/>
          <p:cNvSpPr/>
          <p:nvPr/>
        </p:nvSpPr>
        <p:spPr>
          <a:xfrm>
            <a:off x="6638544" y="2240280"/>
            <a:ext cx="91440" cy="91440"/>
          </a:xfrm>
          <a:prstGeom prst="ellipse">
            <a:avLst/>
          </a:prstGeom>
          <a:solidFill>
            <a:srgbClr val="12803C"/>
          </a:solidFill>
          <a:ln/>
        </p:spPr>
      </p:sp>
      <p:pic>
        <p:nvPicPr>
          <p:cNvPr id="13" name="Image 1" descr="Screenshot: conso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2423160"/>
            <a:ext cx="5349240" cy="334327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8640" y="585216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Website — “One door to every government service”, with the live prototype embedded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6181344" y="585216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Saathi for Departments — 15 consoles, masked e-KYC, audit trail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olam tex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0"/>
            <a:ext cx="5486400" cy="6858000"/>
          </a:xfrm>
          <a:prstGeom prst="rect">
            <a:avLst/>
          </a:prstGeom>
        </p:spPr>
      </p:pic>
      <p:sp>
        <p:nvSpPr>
          <p:cNvPr id="3" name="Text 3"/>
          <p:cNvSpPr/>
          <p:nvPr>
            <p:ph idx="104" type="title" hasCustomPrompt="1"/>
          </p:nvPr>
        </p:nvSpPr>
        <p:spPr>
          <a:xfrm>
            <a:off x="548640" y="201168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Thank </a:t>
            </a:r>
            <a:pPr algn="l" indent="0" marL="0">
              <a:buNone/>
            </a:pPr>
            <a:r>
              <a:rPr lang="en-US" sz="4000" i="1" dirty="0">
                <a:solidFill>
                  <a:srgbClr val="FFB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you.</a:t>
            </a:r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9718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DDE5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 planned the work, priced it, broke it into tasks and produced the first complete design of Saathi.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548640" y="4069080"/>
            <a:ext cx="5852160" cy="1234440"/>
          </a:xfrm>
          <a:prstGeom prst="roundRect">
            <a:avLst>
              <a:gd name="adj" fmla="val 11852"/>
            </a:avLst>
          </a:prstGeom>
          <a:solidFill>
            <a:srgbClr val="10286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04672" y="422452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FFBE7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NEXT · BUILD, TEST &amp; PROJECT EXPO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04672" y="4498848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Usability sessions in three states, native-language review, and the live prototype at the expo.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623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B9C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Krishom Sharma  ·  BCA (UI/UX Designs)  ·  UID 24BCU10002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B9C8F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athi Bharat Precision">
  <a:themeElements>
    <a:clrScheme name="Saathi Bharat Precision">
      <a:dk1>
        <a:srgbClr val="0B0D14"/>
      </a:dk1>
      <a:lt1>
        <a:srgbClr val="FFFFFF"/>
      </a:lt1>
      <a:dk2>
        <a:srgbClr val="0A1C54"/>
      </a:dk2>
      <a:lt2>
        <a:srgbClr val="F7F8FA"/>
      </a:lt2>
      <a:accent1>
        <a:srgbClr val="1F43B8"/>
      </a:accent1>
      <a:accent2>
        <a:srgbClr val="FF8A1F"/>
      </a:accent2>
      <a:accent3>
        <a:srgbClr val="12803C"/>
      </a:accent3>
      <a:accent4>
        <a:srgbClr val="5577E0"/>
      </a:accent4>
      <a:accent5>
        <a:srgbClr val="B45309"/>
      </a:accent5>
      <a:accent6>
        <a:srgbClr val="626978"/>
      </a:accent6>
      <a:hlink>
        <a:srgbClr val="1F43B8"/>
      </a:hlink>
      <a:folHlink>
        <a:srgbClr val="16338F"/>
      </a:folHlink>
    </a:clrScheme>
    <a:fontScheme name="Saathi Bharat Precision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3 — Planning, Budgeting, Task Definition &amp; Preliminary Design</dc:title>
  <dc:subject>Minor Project · Smart City Citizen Services App (Saathi)</dc:subject>
  <dc:creator>Krishom Sharma</dc:creator>
  <cp:lastModifiedBy>Krishom Sharma</cp:lastModifiedBy>
  <cp:revision>1</cp:revision>
  <dcterms:created xsi:type="dcterms:W3CDTF">2026-10-05T04:57:16Z</dcterms:created>
  <dcterms:modified xsi:type="dcterms:W3CDTF">2026-10-05T04:57:16Z</dcterms:modified>
</cp:coreProperties>
</file>
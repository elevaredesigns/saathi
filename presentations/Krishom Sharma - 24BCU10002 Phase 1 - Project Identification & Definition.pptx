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fbf41126-646d-5072-0ec0-8e75c345841a}">
          <p14:sldIdLst>
            <p14:sldId id="256"/>
          </p14:sldIdLst>
        </p14:section>
        <p14:section name="Contents" id="{e8f4ac7f-e91c-e112-48eb-746b16969502}">
          <p14:sldIdLst>
            <p14:sldId id="257"/>
          </p14:sldIdLst>
        </p14:section>
        <p14:section name="Identification" id="{4ac0fc0b-6ec1-44b6-6042-97f222fec359}">
          <p14:sldIdLst>
            <p14:sldId id="258"/>
            <p14:sldId id="259"/>
            <p14:sldId id="260"/>
            <p14:sldId id="261"/>
          </p14:sldIdLst>
        </p14:section>
        <p14:section name="Definition" id="{1016bef4-3983-43ae-8142-802ecf64f380}">
          <p14:sldIdLst>
            <p14:sldId id="262"/>
            <p14:sldId id="263"/>
            <p14:sldId id="264"/>
            <p14:sldId id="265"/>
          </p14:sldIdLst>
        </p14:section>
        <p14:section name="Solution" id="{df7e70b1-299c-4d74-83c1-be82f5a688f1}">
          <p14:sldIdLst>
            <p14:sldId id="266"/>
            <p14:sldId id="267"/>
          </p14:sldIdLst>
        </p14:section>
        <p14:section name="Outcomes" id="{929ea6b2-58dd-74b4-f5ca-3a2fde1901d4}">
          <p14:sldIdLst>
            <p14:sldId id="268"/>
          </p14:sldIdLst>
        </p14:section>
        <p14:section name="Close" id="{a219644a-0676-c8f8-e2f7-7119dbcd191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1112" y="283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  ·  IDENTIFICATION &amp; DEFINITION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indent="0" marL="0">
              <a:buNone/>
            </a:pP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DARK">
    <p:bg>
      <p:bgPr>
        <a:solidFill>
          <a:srgbClr val="0A1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line-art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0"/>
            <a:ext cx="6583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8A1F"/>
          </a:solidFill>
          <a:ln/>
        </p:spPr>
      </p:sp>
      <p:sp>
        <p:nvSpPr>
          <p:cNvPr id="4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57443" y="-10973"/>
            <a:ext cx="76810" cy="7681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6" name="Shape 3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12803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57200" cy="3529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219456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3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417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Minor Project  ·  Phase 1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Identification &amp; Definition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28600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City Citizen
</a:t>
            </a:r>
            <a:pPr indent="0" marL="0">
              <a:lnSpc>
                <a:spcPct val="95000"/>
              </a:lnSpc>
              <a:buNone/>
            </a:pPr>
            <a:r>
              <a:rPr lang="en-US" sz="44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App</a:t>
            </a:r>
            <a:pPr indent="0" marL="0">
              <a:lnSpc>
                <a:spcPct val="95000"/>
              </a:lnSpc>
              <a:buNone/>
            </a:pP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0050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— one door to every government service. A multilingual, voice-first citizen app with an assistant that asks before it acts.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4846320"/>
            <a:ext cx="603504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96112" y="5010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96112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Krishom Sharma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96112" y="5650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(UI/UX Designs)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96112" y="5888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UID — 24BCU10002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977640" y="5074920"/>
            <a:ext cx="0" cy="96012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06240" y="5010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206240" y="5266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UIC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206240" y="5650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Institute of Computing</a:t>
            </a:r>
            <a:endParaRPr lang="en-US" sz="1200" dirty="0"/>
          </a:p>
        </p:txBody>
      </p:sp>
      <p:pic>
        <p:nvPicPr>
          <p:cNvPr id="24" name="Image 2" descr="Saathi prototype screen: ph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02920"/>
            <a:ext cx="3003490" cy="58521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06640" y="6446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design concept. Not affiliated with the Government of India.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covers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identifies the problem worth solving and defines the project around it.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at a glance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14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Title, domain, type and what was built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172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digital rails — and the missing front door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753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identification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Hundreds of apps, three recurring frictions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233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Smart-city context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citizens meet the city, every day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73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892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51480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single question this project answers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922008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22008" y="2514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personas, four very different needs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3172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things the project sets out to achieve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35753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— one door to every service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215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4233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22008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targets and why it matters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at a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glance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smart-city citizen services app, designed end to end and built as a working prototype.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989320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4505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title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4505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 — “Saathi”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971800"/>
            <a:ext cx="5486400" cy="0"/>
          </a:xfrm>
          <a:prstGeom prst="line">
            <a:avLst/>
          </a:prstGeom>
          <a:noFill/>
          <a:ln w="6350">
            <a:solidFill>
              <a:srgbClr val="E6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305409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Domain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0540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tech · Smart cities · Government UX (GovTech)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" y="3575304"/>
            <a:ext cx="5486400" cy="0"/>
          </a:xfrm>
          <a:prstGeom prst="line">
            <a:avLst/>
          </a:prstGeom>
          <a:noFill/>
          <a:ln w="6350">
            <a:solidFill>
              <a:srgbClr val="E6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657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type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657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 project — UI/UX design + interactive prototype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" y="4178808"/>
            <a:ext cx="5486400" cy="0"/>
          </a:xfrm>
          <a:prstGeom prst="line">
            <a:avLst/>
          </a:prstGeom>
          <a:noFill/>
          <a:ln w="6350">
            <a:solidFill>
              <a:srgbClr val="E6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42611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Platform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426110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(iPhone prototype) + website + department console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" y="4782312"/>
            <a:ext cx="5486400" cy="0"/>
          </a:xfrm>
          <a:prstGeom prst="line">
            <a:avLst/>
          </a:prstGeom>
          <a:noFill/>
          <a:ln w="6350">
            <a:solidFill>
              <a:srgbClr val="E6E8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8646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Framed by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48646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Cities Mission · Digital India · Viksit Bharat @2047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" y="5385816"/>
            <a:ext cx="5486400" cy="0"/>
          </a:xfrm>
          <a:prstGeom prst="line">
            <a:avLst/>
          </a:prstGeom>
          <a:noFill/>
          <a:ln w="6350">
            <a:solidFill>
              <a:srgbClr val="E6E8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4681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Deliverables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423160" y="54681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Research, design system, prototype, case study, website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240280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3" name="tile-files"/>
          <p:cNvSpPr/>
          <p:nvPr/>
        </p:nvSpPr>
        <p:spPr>
          <a:xfrm>
            <a:off x="7040880" y="2468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24" name="Image 0" descr="f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2569464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726680" y="2423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42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31089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processes modelled on their real portals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262872" y="2240280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8" name="tile-translate"/>
          <p:cNvSpPr/>
          <p:nvPr/>
        </p:nvSpPr>
        <p:spPr>
          <a:xfrm>
            <a:off x="9491472" y="2468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9" name="Image 1" descr="trans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2569464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0177272" y="2423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</a:t>
            </a:r>
            <a:endParaRPr lang="en-US" sz="3200" dirty="0"/>
          </a:p>
        </p:txBody>
      </p:sp>
      <p:sp>
        <p:nvSpPr>
          <p:cNvPr id="31" name="Text 27"/>
          <p:cNvSpPr txBox="1"/>
          <p:nvPr/>
        </p:nvSpPr>
        <p:spPr>
          <a:xfrm>
            <a:off x="9491472" y="31089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 live today; 6 more of the Eighth Schedule coming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812280" y="4224528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3" name="tile-buildings"/>
          <p:cNvSpPr/>
          <p:nvPr/>
        </p:nvSpPr>
        <p:spPr>
          <a:xfrm>
            <a:off x="7040880" y="4453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34" name="Image 2" descr="buildin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4553712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726680" y="4407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3200" dirty="0"/>
          </a:p>
        </p:txBody>
      </p:sp>
      <p:sp>
        <p:nvSpPr>
          <p:cNvPr id="36" name="Text 31"/>
          <p:cNvSpPr txBox="1"/>
          <p:nvPr/>
        </p:nvSpPr>
        <p:spPr>
          <a:xfrm>
            <a:off x="7040880" y="509320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consoles — the other side of the counter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9262872" y="4224528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8" name="tile-sparkle"/>
          <p:cNvSpPr/>
          <p:nvPr/>
        </p:nvSpPr>
        <p:spPr>
          <a:xfrm>
            <a:off x="9491472" y="4453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39" name="Image 3" descr="spark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4553712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0177272" y="4407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3200" dirty="0"/>
          </a:p>
        </p:txBody>
      </p:sp>
      <p:sp>
        <p:nvSpPr>
          <p:cNvPr id="41" name="Text 35"/>
          <p:cNvSpPr txBox="1"/>
          <p:nvPr/>
        </p:nvSpPr>
        <p:spPr>
          <a:xfrm>
            <a:off x="9491472" y="509320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that never submits without your “yes”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rails are built. The door is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missing.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 already runs the largest digital public infrastructure in the world.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fingerprint"/>
          <p:cNvSpPr/>
          <p:nvPr/>
        </p:nvSpPr>
        <p:spPr>
          <a:xfrm>
            <a:off x="822960" y="2560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fingerpr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6709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142 crore+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67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Aadhaar numbers issued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2286000"/>
            <a:ext cx="352044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currency-inr"/>
          <p:cNvSpPr/>
          <p:nvPr/>
        </p:nvSpPr>
        <p:spPr>
          <a:xfrm>
            <a:off x="4572000" y="2560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currency-in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26709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23.2 billion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767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payments in May 2026 alone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2286000"/>
            <a:ext cx="352044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folder-lock"/>
          <p:cNvSpPr/>
          <p:nvPr/>
        </p:nvSpPr>
        <p:spPr>
          <a:xfrm>
            <a:off x="8321040" y="2560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folder-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682" y="267096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 crore+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767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DigiLocker accounts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11852"/>
            </a:avLst>
          </a:prstGeom>
          <a:solidFill>
            <a:srgbClr val="EEF2FC"/>
          </a:solidFill>
          <a:ln/>
        </p:spPr>
      </p:sp>
      <p:sp>
        <p:nvSpPr>
          <p:cNvPr id="20" name="tile-door-open"/>
          <p:cNvSpPr/>
          <p:nvPr/>
        </p:nvSpPr>
        <p:spPr>
          <a:xfrm>
            <a:off x="804672" y="475488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21" name="Image 3" descr="door-o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13" y="4899721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4690872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Yet a citizen still has to know which app, which portal and which form. A smart city needs a front door those rails were waiting for — built on them, not beside them.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Aadhaar IDs (Apr 2025, indiantelevision.com) · NPCI UPI data, May 2026 (Tribune India) · DigiLocker users 2026 (Organiser). Figures as cited on the Saathi website.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Hundreds of apps. No single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door.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maze itself is the barrier.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citizen who wants to register a birth, pay property tax or check a pension doesn't deal with one government. They deal with dozens — each with its own app, login, language and idea of how a form should work.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exist, but finding the real one — not a lookalike, not a middleman — takes confidence, data and patience that the people who need help most often don't have.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FEW OF THE APPS A CITIZEN IS EXPECTED TO JUGGLE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983480"/>
            <a:ext cx="772668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983480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UMANG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12748" y="4983480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2748" y="4983480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DigiLocker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65476" y="49834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5476" y="4983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mAadhaar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62756" y="4983480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2756" y="4983480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mParivahan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385816"/>
            <a:ext cx="928116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385816"/>
            <a:ext cx="928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e-Shram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68196" y="5385816"/>
            <a:ext cx="1083564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68196" y="5385816"/>
            <a:ext cx="108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DigiYatra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0" y="5385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5385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Ayushman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0" y="5385816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53858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EPFO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26864" y="5385816"/>
            <a:ext cx="61722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26864" y="5385816"/>
            <a:ext cx="617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NSP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788152"/>
            <a:ext cx="928116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788152"/>
            <a:ext cx="928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Bhulekh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568196" y="5788152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68196" y="578815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PFMS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54580" y="5788152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54580" y="5788152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Income Tax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240280"/>
            <a:ext cx="5349240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3796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200" dirty="0">
                <a:solidFill>
                  <a:srgbClr val="FF8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0632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मुझे पता है कि सब online है, but मुझे ये नहीं पता कि कौन सा online असली है.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know everything's online — I just don't know which ‘online’ is the real one.”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37960" y="5212080"/>
            <a:ext cx="48463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Rakesh, 34 — shopkeeper, Kanpur  ·  user research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frictions, again and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again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Conversations with citizens in cities, small towns and villages about the last time they used a government service.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79476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translate"/>
          <p:cNvSpPr/>
          <p:nvPr/>
        </p:nvSpPr>
        <p:spPr>
          <a:xfrm>
            <a:off x="822960" y="256032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6" name="Image 0" descr="trans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7011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Language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 fall back to English. Citizens who read slowly — or read a different script — need someone else to fill them 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297180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can speak it. I can't always read it.” — Sunita, rural Bihar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2286000"/>
            <a:ext cx="3520440" cy="379476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2" name="tile-shield-warning"/>
          <p:cNvSpPr/>
          <p:nvPr/>
        </p:nvSpPr>
        <p:spPr>
          <a:xfrm>
            <a:off x="4572000" y="256032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13" name="Image 1" descr="shield-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270113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840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portals sit one search result away. People double-check everything, and middlemen charge for the confidence.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0" y="5120640"/>
            <a:ext cx="297180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0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it looks official, I still double-check. Twice.” — Rakesh, Kanpur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0" y="2286000"/>
            <a:ext cx="3520440" cy="379476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9" name="tile-signpost"/>
          <p:cNvSpPr/>
          <p:nvPr/>
        </p:nvSpPr>
        <p:spPr>
          <a:xfrm>
            <a:off x="8321040" y="256032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20" name="Image 2" descr="signpo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270113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2104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to start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3840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are organised by department. Citizens think in life events — a birth, a job, a move — not ministries.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321040" y="5120640"/>
            <a:ext cx="297180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21040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“Don't hurry me. Just tell me clearly.” — Vikram, Chennai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citizens meet the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city is judged at its counters. These are the everyday touchpoints Saathi brings behind one door.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buildings"/>
          <p:cNvSpPr/>
          <p:nvPr/>
        </p:nvSpPr>
        <p:spPr>
          <a:xfrm>
            <a:off x="804672" y="2560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buil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68504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Municipal services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9443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tax, birth &amp; death certificates, trade licences — Nagar Nigam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286000"/>
            <a:ext cx="352044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car"/>
          <p:cNvSpPr/>
          <p:nvPr/>
        </p:nvSpPr>
        <p:spPr>
          <a:xfrm>
            <a:off x="4553712" y="2560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11" name="Image 1" descr="c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436" y="268504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Mobility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303520" y="29443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Driving licence renewal, vehicle services and traffic challans — RTO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2286000"/>
            <a:ext cx="352044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first-aid-kit"/>
          <p:cNvSpPr/>
          <p:nvPr/>
        </p:nvSpPr>
        <p:spPr>
          <a:xfrm>
            <a:off x="8302752" y="2560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first-aid-k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476" y="268504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29443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Ayushman card, vaccinations and hospital records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52044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hand-heart"/>
          <p:cNvSpPr/>
          <p:nvPr/>
        </p:nvSpPr>
        <p:spPr>
          <a:xfrm>
            <a:off x="804672" y="4480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1" name="Image 3" descr="hand-he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460528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Welfare &amp; pensions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486460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Old-age pension, life certificates, maternity and farmer schemes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4206240"/>
            <a:ext cx="352044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identification-card"/>
          <p:cNvSpPr/>
          <p:nvPr/>
        </p:nvSpPr>
        <p:spPr>
          <a:xfrm>
            <a:off x="4553712" y="4480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6" name="Image 4" descr="identification-c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436" y="460528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 &amp; documents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5303520" y="486460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Aadhaar, PAN, voter ID — a verified wallet via DigiLocker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4206240"/>
            <a:ext cx="352044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megaphone"/>
          <p:cNvSpPr/>
          <p:nvPr/>
        </p:nvSpPr>
        <p:spPr>
          <a:xfrm>
            <a:off x="8302752" y="4480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31" name="Image 5" descr="megaph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476" y="4605284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Grievances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9052560" y="486460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 a delay to the grievance cell, with the case already filled 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Citizens of a smart city still have to find the right app, portal and form among 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hundreds</a:t>
            </a:r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60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often in a language that isn't theirs, with no way to tell a real portal from a fake, and no idea what they are entitled to.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5120640"/>
            <a:ext cx="9052560" cy="868680"/>
          </a:xfrm>
          <a:prstGeom prst="roundRect">
            <a:avLst>
              <a:gd name="adj" fmla="val 16842"/>
            </a:avLst>
          </a:prstGeom>
          <a:solidFill>
            <a:srgbClr val="10286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1206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might we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one trustworthy, multilingual door to every city service — that starts from the citizen's life, not from a department?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people. Four very different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needs.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users, drawn from research across tier-2 cities, villages, seniors and urban professionals.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51460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RV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Rakesh Verma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· Tier-2 · Kanpur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Shopkeeper. Smartphone-confident, burned by fake-portal scams.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34924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EEF2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53492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he can verify · Hindi-first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2514600"/>
            <a:ext cx="777240" cy="777240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Sunita Devi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· Rural · Bihar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Farmer. Low literacy, shares one phone with the family.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38728" y="534924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FFF6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48456" y="53492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+ read-aloud · weak signal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9088" y="2514600"/>
            <a:ext cx="777240" cy="777240"/>
          </a:xfrm>
          <a:prstGeom prst="ellipse">
            <a:avLst/>
          </a:prstGeom>
          <a:solidFill>
            <a:srgbClr val="ECF8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2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Vikram Singh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 · Senior · Chennai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Retired teacher. Patient, careful, prefers Tamil.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45936" y="534924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ECF8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55664" y="53492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Larger text · slow mode · Tamil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70264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26296" y="2514600"/>
            <a:ext cx="777240" cy="777240"/>
          </a:xfrm>
          <a:prstGeom prst="ellipse">
            <a:avLst/>
          </a:prstGeom>
          <a:solidFill>
            <a:srgbClr val="F3EF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26296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6D4A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Ananya Sharma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226296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· Urban · Bengaluru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Analyst. Fluent in English, zero patience for friction.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153144" y="534924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F3EF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62872" y="53492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Speed · saveable receipts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project sets out to achieve.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4068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ile-squares-four"/>
          <p:cNvSpPr/>
          <p:nvPr/>
        </p:nvSpPr>
        <p:spPr>
          <a:xfrm>
            <a:off x="1417320" y="25146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7" name="Image 0" descr="squares-f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044" y="2639324"/>
            <a:ext cx="317480" cy="317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9456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Organise by life, not department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 every service through life moments, needs and entitlements.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240280"/>
            <a:ext cx="544068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2823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ile-translate"/>
          <p:cNvSpPr/>
          <p:nvPr/>
        </p:nvSpPr>
        <p:spPr>
          <a:xfrm>
            <a:off x="7040880" y="25146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3" name="Image 1" descr="trans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604" y="2639324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1812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Vernacular-first, in 22 languages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screen and form in the citizen's own language and script.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547872"/>
            <a:ext cx="544068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04672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ile-microphone"/>
          <p:cNvSpPr/>
          <p:nvPr/>
        </p:nvSpPr>
        <p:spPr>
          <a:xfrm>
            <a:off x="1417320" y="382219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9" name="Image 2" descr="micro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044" y="3946916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19456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and accessibility by default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2194560" y="40965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on every field, read-aloud, slow mode and larger text.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72200" y="3547872"/>
            <a:ext cx="544068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428232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ile-sparkle"/>
          <p:cNvSpPr/>
          <p:nvPr/>
        </p:nvSpPr>
        <p:spPr>
          <a:xfrm>
            <a:off x="7040880" y="382219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5" name="Image 3" descr="spark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604" y="3946916"/>
            <a:ext cx="317480" cy="3174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81812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assistant that acts — and asks first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818120" y="40965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Plan, show sources, take consent, then do the paperwork.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855464"/>
            <a:ext cx="544068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804672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ile-list-checks"/>
          <p:cNvSpPr/>
          <p:nvPr/>
        </p:nvSpPr>
        <p:spPr>
          <a:xfrm>
            <a:off x="1417320" y="512978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31" name="Image 4" descr="list-chec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044" y="5254508"/>
            <a:ext cx="317480" cy="3174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194560" y="5056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status sacred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2194560" y="54041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application tracked with stages, named officers and dates.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72200" y="4855464"/>
            <a:ext cx="544068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6428232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ile-shield-check"/>
          <p:cNvSpPr/>
          <p:nvPr/>
        </p:nvSpPr>
        <p:spPr>
          <a:xfrm>
            <a:off x="7040880" y="512978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37" name="Image 5" descr="shield-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5604" y="5254508"/>
            <a:ext cx="317480" cy="31748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818120" y="5056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and privacy you can check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818120" y="54041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DPDP-style consent, an access log and verifiable receipts.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— one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door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don't think in departments. They think in moments, needs and entitlements.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115568" y="2194560"/>
            <a:ext cx="2468880" cy="2468880"/>
          </a:xfrm>
          <a:prstGeom prst="ellipse">
            <a:avLst/>
          </a:prstGeom>
          <a:solidFill>
            <a:srgbClr val="1F43B8">
              <a:alpha val="14000"/>
            </a:srgbClr>
          </a:solidFill>
          <a:ln w="15875">
            <a:solidFill>
              <a:srgbClr val="1F4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42032" y="2194560"/>
            <a:ext cx="2468880" cy="2468880"/>
          </a:xfrm>
          <a:prstGeom prst="ellipse">
            <a:avLst/>
          </a:prstGeom>
          <a:solidFill>
            <a:srgbClr val="FF8A1F">
              <a:alpha val="14000"/>
            </a:srgbClr>
          </a:solidFill>
          <a:ln w="15875">
            <a:solidFill>
              <a:srgbClr val="FF8A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3383280"/>
            <a:ext cx="2468880" cy="2468880"/>
          </a:xfrm>
          <a:prstGeom prst="ellipse">
            <a:avLst/>
          </a:prstGeom>
          <a:solidFill>
            <a:srgbClr val="12803C">
              <a:alpha val="14000"/>
            </a:srgbClr>
          </a:solidFill>
          <a:ln w="15875">
            <a:solidFill>
              <a:srgbClr val="1280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5A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Entitlements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3749040"/>
            <a:ext cx="914400" cy="384048"/>
          </a:xfrm>
          <a:prstGeom prst="ellipse">
            <a:avLst/>
          </a:prstGeom>
          <a:solidFill>
            <a:srgbClr val="0B0D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06040" y="3749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Citizen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citizen app that starts from your life. Ask in your own language — Saathi finds what you're entitled to, fills in the forms and keeps the receipts.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4279392"/>
            <a:ext cx="146304" cy="146304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on India Stack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Aadhaar, DigiLocker, UPI, Bhashini (conceptual)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4901184"/>
            <a:ext cx="146304" cy="146304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sides of the counter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5084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app + 15 department consoles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5522976"/>
            <a:ext cx="146304" cy="146304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5449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before acting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5705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submitted without consent</a:t>
            </a:r>
            <a:endParaRPr lang="en-US" sz="1100" dirty="0"/>
          </a:p>
        </p:txBody>
      </p:sp>
      <p:pic>
        <p:nvPicPr>
          <p:cNvPr id="22" name="Image 0" descr="Saathi prototype screen: ph_expl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965960"/>
            <a:ext cx="2229152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app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tabs, with the assistant in the centre.</a:t>
            </a:r>
            <a:endParaRPr lang="en-US" sz="1450" dirty="0"/>
          </a:p>
        </p:txBody>
      </p:sp>
      <p:pic>
        <p:nvPicPr>
          <p:cNvPr id="4" name="Image 0" descr="Saathi prototype screen: ph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35" y="2057400"/>
            <a:ext cx="1712928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760720"/>
            <a:ext cx="2407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card, what needs attention, your applications</a:t>
            </a:r>
            <a:endParaRPr lang="en-US" sz="1100" dirty="0"/>
          </a:p>
        </p:txBody>
      </p:sp>
      <p:pic>
        <p:nvPicPr>
          <p:cNvPr id="7" name="Image 1" descr="Saathi prototype screen: ph_saat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53" y="2057400"/>
            <a:ext cx="1712928" cy="3337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21558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504438" y="5760720"/>
            <a:ext cx="2407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any words — it plans, asks, then acts</a:t>
            </a:r>
            <a:endParaRPr lang="en-US" sz="1100" dirty="0"/>
          </a:p>
        </p:txBody>
      </p:sp>
      <p:pic>
        <p:nvPicPr>
          <p:cNvPr id="10" name="Image 2" descr="Saathi prototype screen: ph_tr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71" y="2057400"/>
            <a:ext cx="1712928" cy="3337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94476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277356" y="5760720"/>
            <a:ext cx="2407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Stages, named officers and expected dates</a:t>
            </a:r>
            <a:endParaRPr lang="en-US" sz="1100" dirty="0"/>
          </a:p>
        </p:txBody>
      </p:sp>
      <p:pic>
        <p:nvPicPr>
          <p:cNvPr id="13" name="Image 3" descr="Saathi prototype screen: ph_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89" y="2057400"/>
            <a:ext cx="1712928" cy="33375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67394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9050274" y="5760720"/>
            <a:ext cx="2407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wallet, family proxy, privacy dashboard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we'd know it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targets for a pilot — not results — so the design can be judged against something measurable.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min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0358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apply for a birth certificate, from a first-time user's first tap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22402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0358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test participants complete a key flow without help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22402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19088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0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30358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 submitted or payments made without explicit consent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0264" y="22402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6296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in 3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30358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 filled by voice among low-literacy participants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708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SIGNIFICANCE — THE FOUR PILLARS OF VIKSIT BHARAT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63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गरीब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38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Garib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13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Entitlements find people, not the other way round.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4663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युवा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5138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Yuva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5413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Scholarships, skills and a first job in one place.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63056" y="4663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अन्नदाता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5138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Annadata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5413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 records and PM-KISAN, by voice.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970264" y="4663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नारी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970264" y="5138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70264" y="5413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Maternity benefits and a daughter's savings, as one checklist.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71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identified the problem — a maze of apps — and defined Saathi as one trustworthy door for the citizens of a smart city.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4069080"/>
            <a:ext cx="5852160" cy="1234440"/>
          </a:xfrm>
          <a:prstGeom prst="roundRect">
            <a:avLst>
              <a:gd name="adj" fmla="val 11852"/>
            </a:avLst>
          </a:prstGeom>
          <a:solidFill>
            <a:srgbClr val="10286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" y="42245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· PHASE 2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449884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scope and literature review: what is in and out, and what standards, platforms and research the design stands on.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athi Bharat Precision">
  <a:themeElements>
    <a:clrScheme name="Saathi Bharat Precision">
      <a:dk1>
        <a:srgbClr val="0B0D14"/>
      </a:dk1>
      <a:lt1>
        <a:srgbClr val="FFFFFF"/>
      </a:lt1>
      <a:dk2>
        <a:srgbClr val="0A1C54"/>
      </a:dk2>
      <a:lt2>
        <a:srgbClr val="F7F8FA"/>
      </a:lt2>
      <a:accent1>
        <a:srgbClr val="1F43B8"/>
      </a:accent1>
      <a:accent2>
        <a:srgbClr val="FF8A1F"/>
      </a:accent2>
      <a:accent3>
        <a:srgbClr val="12803C"/>
      </a:accent3>
      <a:accent4>
        <a:srgbClr val="5577E0"/>
      </a:accent4>
      <a:accent5>
        <a:srgbClr val="B45309"/>
      </a:accent5>
      <a:accent6>
        <a:srgbClr val="626978"/>
      </a:accent6>
      <a:hlink>
        <a:srgbClr val="1F43B8"/>
      </a:hlink>
      <a:folHlink>
        <a:srgbClr val="16338F"/>
      </a:folHlink>
    </a:clrScheme>
    <a:fontScheme name="Saathi Bharat Precision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— Project Identification &amp; Definition</dc:title>
  <dc:subject>Minor Project · Smart City Citizen Services App (Saathi)</dc:subject>
  <dc:creator>Krishom Sharma</dc:creator>
  <cp:lastModifiedBy>Krishom Sharma</cp:lastModifiedBy>
  <cp:revision>1</cp:revision>
  <dcterms:created xsi:type="dcterms:W3CDTF">2026-10-05T04:57:15Z</dcterms:created>
  <dcterms:modified xsi:type="dcterms:W3CDTF">2026-10-05T04:57:15Z</dcterms:modified>
</cp:coreProperties>
</file>
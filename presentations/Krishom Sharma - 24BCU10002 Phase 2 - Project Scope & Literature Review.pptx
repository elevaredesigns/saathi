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8bdc11b4-392d-7d77-7937-f22a0526b9a3}">
          <p14:sldIdLst>
            <p14:sldId id="256"/>
          </p14:sldIdLst>
        </p14:section>
        <p14:section name="Contents" id="{4b0d9856-7e54-6c58-1c4b-f430267dda90}">
          <p14:sldIdLst>
            <p14:sldId id="257"/>
          </p14:sldIdLst>
        </p14:section>
        <p14:section name="Scope" id="{32cc1550-ace6-7938-d983-e9c4baf2169e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Literature review" id="{dcdeee8e-0efc-cda3-e536-3d2d066689a6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Close" id="{2785f39e-37d9-0493-5e46-e0a18a604d4a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ATHI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9184"/>
            <a:ext cx="329184" cy="2542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468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साथी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1627632" y="2468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City Citizen Services App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11112" y="28346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1633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2  ·  SCOPE &amp; LITERATURE REVIEW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Krishom Sharma  ·  BCA (UI/UX Designs)  ·  UID 24BCU10002  ·  UIC</a:t>
            </a:r>
            <a:endParaRPr lang="en-US" sz="95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indent="0" marL="0">
              <a:buNone/>
            </a:pP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ATHI_DARK">
    <p:bg>
      <p:bgPr>
        <a:solidFill>
          <a:srgbClr val="0A1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9184"/>
            <a:ext cx="329184" cy="2542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468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साथी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1627632" y="2468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City Citizen Services App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Krishom Sharma  ·  BCA (UI/UX Designs)  ·  UID 24BCU10002  ·  UIC</a:t>
            </a:r>
            <a:endParaRPr lang="en-US" sz="95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2011680"/>
            <a:ext cx="104241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B9C8F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ATHI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olam line-art tex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0"/>
            <a:ext cx="65836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8A1F"/>
          </a:solidFill>
          <a:ln/>
        </p:spPr>
      </p:sp>
      <p:sp>
        <p:nvSpPr>
          <p:cNvPr id="4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57443" y="-10973"/>
            <a:ext cx="76810" cy="76810"/>
          </a:xfrm>
          <a:prstGeom prst="ellipse">
            <a:avLst/>
          </a:prstGeom>
          <a:solidFill>
            <a:srgbClr val="1F43B8"/>
          </a:solidFill>
          <a:ln/>
        </p:spPr>
      </p:sp>
      <p:sp>
        <p:nvSpPr>
          <p:cNvPr id="6" name="Shape 3"/>
          <p:cNvSpPr/>
          <p:nvPr/>
        </p:nvSpPr>
        <p:spPr>
          <a:xfrm>
            <a:off x="8127797" y="0"/>
            <a:ext cx="4063898" cy="54864"/>
          </a:xfrm>
          <a:prstGeom prst="rect">
            <a:avLst/>
          </a:prstGeom>
          <a:solidFill>
            <a:srgbClr val="12803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457200" cy="35295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साथी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219456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3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SAATHI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40080" y="141732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EEF2F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0080" y="1417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33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Minor Project  ·  Phase 2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18745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Scope &amp; Literature Review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286000"/>
            <a:ext cx="6766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Smart City Citizen
</a:t>
            </a:r>
            <a:pPr indent="0" marL="0">
              <a:lnSpc>
                <a:spcPct val="95000"/>
              </a:lnSpc>
              <a:buNone/>
            </a:pPr>
            <a:r>
              <a:rPr lang="en-US" sz="44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 App</a:t>
            </a:r>
            <a:pPr indent="0" marL="0">
              <a:lnSpc>
                <a:spcPct val="95000"/>
              </a:lnSpc>
              <a:buNone/>
            </a:pPr>
            <a:endParaRPr lang="en-US" sz="4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400507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Saathi — one door to every government service. A multilingual, voice-first citizen app with an assistant that asks before it acts.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40080" y="4846320"/>
            <a:ext cx="603504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896112" y="50109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SUBMITTED BY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896112" y="52669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Krishom Sharma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896112" y="5650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BCA (UI/UX Designs)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896112" y="58887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UID — 24BCU10002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977640" y="5074920"/>
            <a:ext cx="0" cy="96012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206240" y="50109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DEPARTMENT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4206240" y="52669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UIC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4206240" y="56509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University Institute of Computing</a:t>
            </a:r>
            <a:endParaRPr lang="en-US" sz="1200" dirty="0"/>
          </a:p>
        </p:txBody>
      </p:sp>
      <p:pic>
        <p:nvPicPr>
          <p:cNvPr id="24" name="Image 2" descr="Saathi prototype screen: ph_saath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502920"/>
            <a:ext cx="3003490" cy="585216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406640" y="64465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AA0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design concept. Not affiliated with the Government of India.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this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</a:t>
            </a:r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covers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 draws the boundary of the project and grounds it in standards, platforms and research.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22585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Scope at a glance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51460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in, what is deliberately out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98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29169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Functional scope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17296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modules of the app and console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570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753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Service scope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38313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Fifteen city departments behind one door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153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42336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 &amp; language scope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448970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languages, 8 accessibility modes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73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48920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Technical scope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514807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Stack, architecture and conceptual integrations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207008" y="55504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Constraints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58064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 and ethical non-negotiables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922008" y="22585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Standards &amp; policy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22008" y="251460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WCAG, GIGW, UX4G, DPDP Act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2898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922008" y="29169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Platforms &amp; existing apps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22008" y="317296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 Stack and UMANG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35570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6922008" y="35753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Global benchmarks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922008" y="38313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GOV.UK, LifeSG, Diia and more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42153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6922008" y="42336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HCI &amp; AI literature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922008" y="448970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Heuristics, HCD and human-AI guidelines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263640" y="4873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6922008" y="48920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Gaps → implications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922008" y="514807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review means for the design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263640" y="5532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6922008" y="55504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922008" y="58064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 cited in this phase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Scope at a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glance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complete, working design concept — with real integrations deliberately left out of a student prototype.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5486400" cy="39319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ile-check-circle"/>
          <p:cNvSpPr/>
          <p:nvPr/>
        </p:nvSpPr>
        <p:spPr>
          <a:xfrm>
            <a:off x="804672" y="24688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6" name="Image 0" descr="check-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5694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scope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163824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31272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 mobile app: onboarding, Home, Explore, Saathi AI, Track, Me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657600"/>
            <a:ext cx="182880" cy="1828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36210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 government processes modelled on their real portals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151376"/>
            <a:ext cx="182880" cy="1828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88720" y="4114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Scripted AI assistant with plan, consent and outcome</a:t>
            </a:r>
            <a:endParaRPr lang="en-US" sz="12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645152"/>
            <a:ext cx="182880" cy="18288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188720" y="46085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department consoles — the officer's side of each service</a:t>
            </a:r>
            <a:endParaRPr lang="en-US" sz="12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5138928"/>
            <a:ext cx="182880" cy="18288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188720" y="51023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languages live, voice entry and accessibility modes</a:t>
            </a:r>
            <a:endParaRPr lang="en-US" sz="12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5632704"/>
            <a:ext cx="182880" cy="18288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188720" y="55961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system, website and editorial case study</a:t>
            </a:r>
            <a:endParaRPr lang="en-US" sz="1250" dirty="0"/>
          </a:p>
        </p:txBody>
      </p:sp>
      <p:sp>
        <p:nvSpPr>
          <p:cNvPr id="20" name="Shape 11"/>
          <p:cNvSpPr/>
          <p:nvPr/>
        </p:nvSpPr>
        <p:spPr>
          <a:xfrm>
            <a:off x="6263640" y="2240280"/>
            <a:ext cx="5376672" cy="393192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/>
        </p:spPr>
      </p:sp>
      <p:sp>
        <p:nvSpPr>
          <p:cNvPr id="21" name="tile-prohibit"/>
          <p:cNvSpPr/>
          <p:nvPr/>
        </p:nvSpPr>
        <p:spPr>
          <a:xfrm>
            <a:off x="6519672" y="24688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DEFEE"/>
          </a:solidFill>
          <a:ln/>
        </p:spPr>
      </p:sp>
      <p:pic>
        <p:nvPicPr>
          <p:cNvPr id="22" name="Image 7" descr="prohibi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0256" y="2569464"/>
            <a:ext cx="256032" cy="256032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713232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Out of scope (for now)</a:t>
            </a:r>
            <a:endParaRPr lang="en-US" sz="17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6248" y="3163824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6903720" y="312724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Aadhaar authentication and real payments</a:t>
            </a:r>
            <a:endParaRPr lang="en-US" sz="125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6248" y="3657600"/>
            <a:ext cx="182880" cy="18288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6903720" y="3621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speech recognition in every language</a:t>
            </a:r>
            <a:endParaRPr lang="en-US" sz="125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6248" y="4151376"/>
            <a:ext cx="182880" cy="182880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6903720" y="41148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language model — the assistant is scripted and reviewable</a:t>
            </a:r>
            <a:endParaRPr lang="en-US" sz="125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6248" y="4645152"/>
            <a:ext cx="182880" cy="182880"/>
          </a:xfrm>
          <a:prstGeom prst="rect">
            <a:avLst/>
          </a:prstGeom>
        </p:spPr>
      </p:pic>
      <p:sp>
        <p:nvSpPr>
          <p:cNvPr id="31" name="Text 17"/>
          <p:cNvSpPr txBox="1"/>
          <p:nvPr/>
        </p:nvSpPr>
        <p:spPr>
          <a:xfrm>
            <a:off x="6903720" y="46085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Offline-first data layer and real department back-ends</a:t>
            </a:r>
            <a:endParaRPr lang="en-US" sz="1250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6248" y="5138928"/>
            <a:ext cx="182880" cy="182880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6903720" y="51023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Native-speaker sign-off for the 13 machine-assisted languages</a:t>
            </a:r>
            <a:endParaRPr lang="en-US" sz="1250" dirty="0"/>
          </a:p>
        </p:txBody>
      </p:sp>
      <p:sp>
        <p:nvSpPr>
          <p:cNvPr id="34" name="Text 19"/>
          <p:cNvSpPr txBox="1"/>
          <p:nvPr/>
        </p:nvSpPr>
        <p:spPr>
          <a:xfrm>
            <a:off x="6556248" y="5669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integration is labelled “conceptual” and all data is sample data.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Functional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modules, every one built and clickable in the prototype.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ile-hand-waving"/>
          <p:cNvSpPr/>
          <p:nvPr/>
        </p:nvSpPr>
        <p:spPr>
          <a:xfrm>
            <a:off x="786384" y="2478024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6" name="Image 0" descr="hand-wav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038" y="2590678"/>
            <a:ext cx="286756" cy="2867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6384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Onboarding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34290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steps: language, Aadhaar, OTP, consent, profile, accessibility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55848" y="2240280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0" name="tile-house"/>
          <p:cNvSpPr/>
          <p:nvPr/>
        </p:nvSpPr>
        <p:spPr>
          <a:xfrm>
            <a:off x="3593592" y="2478024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11" name="Image 1" descr="hou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246" y="2590678"/>
            <a:ext cx="286756" cy="2867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93592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Home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93592" y="34290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card, needs-attention nudges, applications, schemes for you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63056" y="2240280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5" name="tile-compass"/>
          <p:cNvSpPr/>
          <p:nvPr/>
        </p:nvSpPr>
        <p:spPr>
          <a:xfrm>
            <a:off x="6400800" y="2478024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16" name="Image 2" descr="compa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454" y="2590678"/>
            <a:ext cx="286756" cy="2867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Explore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34290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 moments, services and schemes — plus on-device search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70264" y="2240280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0" name="tile-sparkle"/>
          <p:cNvSpPr/>
          <p:nvPr/>
        </p:nvSpPr>
        <p:spPr>
          <a:xfrm>
            <a:off x="9208008" y="2478024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21" name="Image 3" descr="spark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0662" y="2590678"/>
            <a:ext cx="286756" cy="2867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08008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Saathi AI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208008" y="34290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in any words; it plans, shows sources, asks, then acts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233672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5" name="tile-files"/>
          <p:cNvSpPr/>
          <p:nvPr/>
        </p:nvSpPr>
        <p:spPr>
          <a:xfrm>
            <a:off x="786384" y="4471416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8F6F4"/>
          </a:solidFill>
          <a:ln/>
        </p:spPr>
      </p:sp>
      <p:pic>
        <p:nvPicPr>
          <p:cNvPr id="26" name="Image 4" descr="fil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038" y="4584070"/>
            <a:ext cx="286756" cy="2867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86384" y="51023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Apply engine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786384" y="54223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 flows: progress, voice fill, documents, review, receipt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355848" y="4233672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0" name="tile-list-checks"/>
          <p:cNvSpPr/>
          <p:nvPr/>
        </p:nvSpPr>
        <p:spPr>
          <a:xfrm>
            <a:off x="3593592" y="4471416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31" name="Image 5" descr="list-check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6246" y="4584070"/>
            <a:ext cx="286756" cy="2867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93592" y="51023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Track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3593592" y="54223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 with stages, named officers, SLAs and dates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163056" y="4233672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5" name="tile-wallet"/>
          <p:cNvSpPr/>
          <p:nvPr/>
        </p:nvSpPr>
        <p:spPr>
          <a:xfrm>
            <a:off x="6400800" y="4471416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36" name="Image 6" descr="wall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3454" y="4584070"/>
            <a:ext cx="286756" cy="28675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00800" y="51023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 &amp; privacy</a:t>
            </a:r>
            <a:endParaRPr lang="en-US" sz="1500" dirty="0"/>
          </a:p>
        </p:txBody>
      </p:sp>
      <p:sp>
        <p:nvSpPr>
          <p:cNvPr id="38" name="Text 29"/>
          <p:cNvSpPr txBox="1"/>
          <p:nvPr/>
        </p:nvSpPr>
        <p:spPr>
          <a:xfrm>
            <a:off x="6400800" y="54223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wallet, family proxy, consent and access log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8970264" y="4233672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40" name="tile-buildings"/>
          <p:cNvSpPr/>
          <p:nvPr/>
        </p:nvSpPr>
        <p:spPr>
          <a:xfrm>
            <a:off x="9208008" y="4471416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41" name="Image 7" descr="building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0662" y="4584070"/>
            <a:ext cx="286756" cy="28675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208008" y="51023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Dept. consoles</a:t>
            </a:r>
            <a:endParaRPr lang="en-US" sz="1500" dirty="0"/>
          </a:p>
        </p:txBody>
      </p:sp>
      <p:sp>
        <p:nvSpPr>
          <p:cNvPr id="43" name="Text 33"/>
          <p:cNvSpPr txBox="1"/>
          <p:nvPr/>
        </p:nvSpPr>
        <p:spPr>
          <a:xfrm>
            <a:off x="9208008" y="54223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desks that review, verify and decide — live to the citizen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Fifteen city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departments</a:t>
            </a:r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, one door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service in the app has a desk on the other side — a department console for officers in Kanpur.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121408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ile-buildings"/>
          <p:cNvSpPr/>
          <p:nvPr/>
        </p:nvSpPr>
        <p:spPr>
          <a:xfrm>
            <a:off x="694944" y="237744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6" name="Image 0" descr="build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598" y="2490094"/>
            <a:ext cx="286756" cy="2867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23408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Municipal Corporation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706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Nagar Nigam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98064" y="2194560"/>
            <a:ext cx="2121408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0" name="tile-map-trifold"/>
          <p:cNvSpPr/>
          <p:nvPr/>
        </p:nvSpPr>
        <p:spPr>
          <a:xfrm>
            <a:off x="2944368" y="237744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11" name="Image 1" descr="map-trifol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022" y="2490094"/>
            <a:ext cx="286756" cy="2867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75304" y="23408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Revenue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3575304" y="2706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Tehsil Sadar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047488" y="2194560"/>
            <a:ext cx="2121408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5" name="tile-fingerprint"/>
          <p:cNvSpPr/>
          <p:nvPr/>
        </p:nvSpPr>
        <p:spPr>
          <a:xfrm>
            <a:off x="5193792" y="237744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16" name="Image 2" descr="fingerpri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446" y="2490094"/>
            <a:ext cx="286756" cy="2867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824728" y="23408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Aadhaar Regional Office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5824728" y="2706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Lucknow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296912" y="2194560"/>
            <a:ext cx="2121408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0" name="tile-car"/>
          <p:cNvSpPr/>
          <p:nvPr/>
        </p:nvSpPr>
        <p:spPr>
          <a:xfrm>
            <a:off x="7443216" y="237744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8F6F4"/>
          </a:solidFill>
          <a:ln/>
        </p:spPr>
      </p:sp>
      <p:pic>
        <p:nvPicPr>
          <p:cNvPr id="21" name="Image 3" descr="c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870" y="2490094"/>
            <a:ext cx="286756" cy="2867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74152" y="23408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Transport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8074152" y="2706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RTO · UP-78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546336" y="2194560"/>
            <a:ext cx="2121408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5" name="tile-first-aid-kit"/>
          <p:cNvSpPr/>
          <p:nvPr/>
        </p:nvSpPr>
        <p:spPr>
          <a:xfrm>
            <a:off x="9692640" y="237744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26" name="Image 4" descr="first-aid-ki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5294" y="2490094"/>
            <a:ext cx="286756" cy="2867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323576" y="23408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Health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10323576" y="2706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District Health Society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548640" y="3218688"/>
            <a:ext cx="2121408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0" name="tile-graduation-cap"/>
          <p:cNvSpPr/>
          <p:nvPr/>
        </p:nvSpPr>
        <p:spPr>
          <a:xfrm>
            <a:off x="694944" y="3401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31" name="Image 5" descr="graduation-ca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598" y="3514222"/>
            <a:ext cx="286756" cy="2867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325880" y="33649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Education</a:t>
            </a:r>
            <a:endParaRPr lang="en-US" sz="1150" dirty="0"/>
          </a:p>
        </p:txBody>
      </p:sp>
      <p:sp>
        <p:nvSpPr>
          <p:cNvPr id="33" name="Text 25"/>
          <p:cNvSpPr txBox="1"/>
          <p:nvPr/>
        </p:nvSpPr>
        <p:spPr>
          <a:xfrm>
            <a:off x="1325880" y="3730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District Education Office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2798064" y="3218688"/>
            <a:ext cx="2121408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5" name="tile-exam"/>
          <p:cNvSpPr/>
          <p:nvPr/>
        </p:nvSpPr>
        <p:spPr>
          <a:xfrm>
            <a:off x="2944368" y="3401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36" name="Image 6" descr="exam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7022" y="3514222"/>
            <a:ext cx="286756" cy="28675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3575304" y="33649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Examinations</a:t>
            </a:r>
            <a:endParaRPr lang="en-US" sz="1150" dirty="0"/>
          </a:p>
        </p:txBody>
      </p:sp>
      <p:sp>
        <p:nvSpPr>
          <p:cNvPr id="38" name="Text 29"/>
          <p:cNvSpPr txBox="1"/>
          <p:nvPr/>
        </p:nvSpPr>
        <p:spPr>
          <a:xfrm>
            <a:off x="3575304" y="3730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NTA, Board &amp; SSC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5047488" y="3218688"/>
            <a:ext cx="2121408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40" name="tile-plant"/>
          <p:cNvSpPr/>
          <p:nvPr/>
        </p:nvSpPr>
        <p:spPr>
          <a:xfrm>
            <a:off x="5193792" y="3401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41" name="Image 7" descr="plan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6446" y="3514222"/>
            <a:ext cx="286756" cy="28675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824728" y="33649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Agriculture</a:t>
            </a:r>
            <a:endParaRPr lang="en-US" sz="1150" dirty="0"/>
          </a:p>
        </p:txBody>
      </p:sp>
      <p:sp>
        <p:nvSpPr>
          <p:cNvPr id="43" name="Text 33"/>
          <p:cNvSpPr txBox="1"/>
          <p:nvPr/>
        </p:nvSpPr>
        <p:spPr>
          <a:xfrm>
            <a:off x="5824728" y="3730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District Agriculture Office</a:t>
            </a:r>
            <a:endParaRPr lang="en-US" sz="950" dirty="0"/>
          </a:p>
        </p:txBody>
      </p:sp>
      <p:sp>
        <p:nvSpPr>
          <p:cNvPr id="44" name="Shape 34"/>
          <p:cNvSpPr/>
          <p:nvPr/>
        </p:nvSpPr>
        <p:spPr>
          <a:xfrm>
            <a:off x="7296912" y="3218688"/>
            <a:ext cx="2121408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45" name="tile-house-line"/>
          <p:cNvSpPr/>
          <p:nvPr/>
        </p:nvSpPr>
        <p:spPr>
          <a:xfrm>
            <a:off x="7443216" y="3401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46" name="Image 8" descr="house-lin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5870" y="3514222"/>
            <a:ext cx="286756" cy="286756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8074152" y="33649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Rural Development</a:t>
            </a:r>
            <a:endParaRPr lang="en-US" sz="1150" dirty="0"/>
          </a:p>
        </p:txBody>
      </p:sp>
      <p:sp>
        <p:nvSpPr>
          <p:cNvPr id="48" name="Text 37"/>
          <p:cNvSpPr txBox="1"/>
          <p:nvPr/>
        </p:nvSpPr>
        <p:spPr>
          <a:xfrm>
            <a:off x="8074152" y="3730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Office, Kalyanpur</a:t>
            </a:r>
            <a:endParaRPr lang="en-US" sz="950" dirty="0"/>
          </a:p>
        </p:txBody>
      </p:sp>
      <p:sp>
        <p:nvSpPr>
          <p:cNvPr id="49" name="Shape 38"/>
          <p:cNvSpPr/>
          <p:nvPr/>
        </p:nvSpPr>
        <p:spPr>
          <a:xfrm>
            <a:off x="9546336" y="3218688"/>
            <a:ext cx="2121408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0" name="tile-wrench"/>
          <p:cNvSpPr/>
          <p:nvPr/>
        </p:nvSpPr>
        <p:spPr>
          <a:xfrm>
            <a:off x="9692640" y="3401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51" name="Image 9" descr="wrench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05294" y="3514222"/>
            <a:ext cx="286756" cy="286756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10323576" y="33649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Labour &amp; Skills</a:t>
            </a:r>
            <a:endParaRPr lang="en-US" sz="1150" dirty="0"/>
          </a:p>
        </p:txBody>
      </p:sp>
      <p:sp>
        <p:nvSpPr>
          <p:cNvPr id="53" name="Text 41"/>
          <p:cNvSpPr txBox="1"/>
          <p:nvPr/>
        </p:nvSpPr>
        <p:spPr>
          <a:xfrm>
            <a:off x="10323576" y="3730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Labour Office</a:t>
            </a:r>
            <a:endParaRPr lang="en-US" sz="950" dirty="0"/>
          </a:p>
        </p:txBody>
      </p:sp>
      <p:sp>
        <p:nvSpPr>
          <p:cNvPr id="54" name="Shape 42"/>
          <p:cNvSpPr/>
          <p:nvPr/>
        </p:nvSpPr>
        <p:spPr>
          <a:xfrm>
            <a:off x="548640" y="4242816"/>
            <a:ext cx="2121408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5" name="tile-baby"/>
          <p:cNvSpPr/>
          <p:nvPr/>
        </p:nvSpPr>
        <p:spPr>
          <a:xfrm>
            <a:off x="694944" y="4425696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56" name="Image 10" descr="baby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7598" y="4538350"/>
            <a:ext cx="286756" cy="286756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1325880" y="43891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Women &amp; Child Dev.</a:t>
            </a:r>
            <a:endParaRPr lang="en-US" sz="1150" dirty="0"/>
          </a:p>
        </p:txBody>
      </p:sp>
      <p:sp>
        <p:nvSpPr>
          <p:cNvPr id="58" name="Text 45"/>
          <p:cNvSpPr txBox="1"/>
          <p:nvPr/>
        </p:nvSpPr>
        <p:spPr>
          <a:xfrm>
            <a:off x="1325880" y="4754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District Programme Office</a:t>
            </a:r>
            <a:endParaRPr lang="en-US" sz="950" dirty="0"/>
          </a:p>
        </p:txBody>
      </p:sp>
      <p:sp>
        <p:nvSpPr>
          <p:cNvPr id="59" name="Shape 46"/>
          <p:cNvSpPr/>
          <p:nvPr/>
        </p:nvSpPr>
        <p:spPr>
          <a:xfrm>
            <a:off x="2798064" y="4242816"/>
            <a:ext cx="2121408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60" name="tile-users-three"/>
          <p:cNvSpPr/>
          <p:nvPr/>
        </p:nvSpPr>
        <p:spPr>
          <a:xfrm>
            <a:off x="2944368" y="4425696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8F6F4"/>
          </a:solidFill>
          <a:ln/>
        </p:spPr>
      </p:sp>
      <p:pic>
        <p:nvPicPr>
          <p:cNvPr id="61" name="Image 11" descr="users-thre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57022" y="4538350"/>
            <a:ext cx="286756" cy="286756"/>
          </a:xfrm>
          <a:prstGeom prst="rect">
            <a:avLst/>
          </a:prstGeom>
        </p:spPr>
      </p:pic>
      <p:sp>
        <p:nvSpPr>
          <p:cNvPr id="62" name="Text 48"/>
          <p:cNvSpPr txBox="1"/>
          <p:nvPr/>
        </p:nvSpPr>
        <p:spPr>
          <a:xfrm>
            <a:off x="3575304" y="43891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Social Welfare</a:t>
            </a:r>
            <a:endParaRPr lang="en-US" sz="1150" dirty="0"/>
          </a:p>
        </p:txBody>
      </p:sp>
      <p:sp>
        <p:nvSpPr>
          <p:cNvPr id="63" name="Text 49"/>
          <p:cNvSpPr txBox="1"/>
          <p:nvPr/>
        </p:nvSpPr>
        <p:spPr>
          <a:xfrm>
            <a:off x="3575304" y="4754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District Welfare Office</a:t>
            </a:r>
            <a:endParaRPr lang="en-US" sz="950" dirty="0"/>
          </a:p>
        </p:txBody>
      </p:sp>
      <p:sp>
        <p:nvSpPr>
          <p:cNvPr id="64" name="Shape 50"/>
          <p:cNvSpPr/>
          <p:nvPr/>
        </p:nvSpPr>
        <p:spPr>
          <a:xfrm>
            <a:off x="5047488" y="4242816"/>
            <a:ext cx="2121408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65" name="tile-bank"/>
          <p:cNvSpPr/>
          <p:nvPr/>
        </p:nvSpPr>
        <p:spPr>
          <a:xfrm>
            <a:off x="5193792" y="4425696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66" name="Image 12" descr="bank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06446" y="4538350"/>
            <a:ext cx="286756" cy="286756"/>
          </a:xfrm>
          <a:prstGeom prst="rect">
            <a:avLst/>
          </a:prstGeom>
        </p:spPr>
      </p:pic>
      <p:sp>
        <p:nvSpPr>
          <p:cNvPr id="67" name="Text 52"/>
          <p:cNvSpPr txBox="1"/>
          <p:nvPr/>
        </p:nvSpPr>
        <p:spPr>
          <a:xfrm>
            <a:off x="5824728" y="43891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Banking &amp; Inclusion</a:t>
            </a:r>
            <a:endParaRPr lang="en-US" sz="1150" dirty="0"/>
          </a:p>
        </p:txBody>
      </p:sp>
      <p:sp>
        <p:nvSpPr>
          <p:cNvPr id="68" name="Text 53"/>
          <p:cNvSpPr txBox="1"/>
          <p:nvPr/>
        </p:nvSpPr>
        <p:spPr>
          <a:xfrm>
            <a:off x="5824728" y="4754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District Office</a:t>
            </a:r>
            <a:endParaRPr lang="en-US" sz="950" dirty="0"/>
          </a:p>
        </p:txBody>
      </p:sp>
      <p:sp>
        <p:nvSpPr>
          <p:cNvPr id="69" name="Shape 54"/>
          <p:cNvSpPr/>
          <p:nvPr/>
        </p:nvSpPr>
        <p:spPr>
          <a:xfrm>
            <a:off x="7296912" y="4242816"/>
            <a:ext cx="2121408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70" name="tile-receipt"/>
          <p:cNvSpPr/>
          <p:nvPr/>
        </p:nvSpPr>
        <p:spPr>
          <a:xfrm>
            <a:off x="7443216" y="4425696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71" name="Image 13" descr="receipt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55870" y="4538350"/>
            <a:ext cx="286756" cy="286756"/>
          </a:xfrm>
          <a:prstGeom prst="rect">
            <a:avLst/>
          </a:prstGeom>
        </p:spPr>
      </p:pic>
      <p:sp>
        <p:nvSpPr>
          <p:cNvPr id="72" name="Text 56"/>
          <p:cNvSpPr txBox="1"/>
          <p:nvPr/>
        </p:nvSpPr>
        <p:spPr>
          <a:xfrm>
            <a:off x="8074152" y="43891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Income Tax</a:t>
            </a:r>
            <a:endParaRPr lang="en-US" sz="1150" dirty="0"/>
          </a:p>
        </p:txBody>
      </p:sp>
      <p:sp>
        <p:nvSpPr>
          <p:cNvPr id="73" name="Text 57"/>
          <p:cNvSpPr txBox="1"/>
          <p:nvPr/>
        </p:nvSpPr>
        <p:spPr>
          <a:xfrm>
            <a:off x="8074152" y="4754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Ward 2(1), Kanpur</a:t>
            </a:r>
            <a:endParaRPr lang="en-US" sz="950" dirty="0"/>
          </a:p>
        </p:txBody>
      </p:sp>
      <p:sp>
        <p:nvSpPr>
          <p:cNvPr id="74" name="Shape 58"/>
          <p:cNvSpPr/>
          <p:nvPr/>
        </p:nvSpPr>
        <p:spPr>
          <a:xfrm>
            <a:off x="9546336" y="4242816"/>
            <a:ext cx="2121408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75" name="tile-megaphone"/>
          <p:cNvSpPr/>
          <p:nvPr/>
        </p:nvSpPr>
        <p:spPr>
          <a:xfrm>
            <a:off x="9692640" y="4425696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DEFEE"/>
          </a:solidFill>
          <a:ln/>
        </p:spPr>
      </p:sp>
      <p:pic>
        <p:nvPicPr>
          <p:cNvPr id="76" name="Image 14" descr="megaphon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05294" y="4538350"/>
            <a:ext cx="286756" cy="286756"/>
          </a:xfrm>
          <a:prstGeom prst="rect">
            <a:avLst/>
          </a:prstGeom>
        </p:spPr>
      </p:pic>
      <p:sp>
        <p:nvSpPr>
          <p:cNvPr id="77" name="Text 60"/>
          <p:cNvSpPr txBox="1"/>
          <p:nvPr/>
        </p:nvSpPr>
        <p:spPr>
          <a:xfrm>
            <a:off x="10323576" y="43891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Public Grievances</a:t>
            </a:r>
            <a:endParaRPr lang="en-US" sz="1150" dirty="0"/>
          </a:p>
        </p:txBody>
      </p:sp>
      <p:sp>
        <p:nvSpPr>
          <p:cNvPr id="78" name="Text 61"/>
          <p:cNvSpPr txBox="1"/>
          <p:nvPr/>
        </p:nvSpPr>
        <p:spPr>
          <a:xfrm>
            <a:off x="10323576" y="4754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District Grievance Cell</a:t>
            </a:r>
            <a:endParaRPr lang="en-US" sz="950" dirty="0"/>
          </a:p>
        </p:txBody>
      </p:sp>
      <p:sp>
        <p:nvSpPr>
          <p:cNvPr id="79" name="Shape 62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8824"/>
            </a:avLst>
          </a:prstGeom>
          <a:solidFill>
            <a:srgbClr val="EEF2FC"/>
          </a:solidFill>
          <a:ln/>
        </p:spPr>
      </p:sp>
      <p:sp>
        <p:nvSpPr>
          <p:cNvPr id="80" name="Text 63"/>
          <p:cNvSpPr txBox="1"/>
          <p:nvPr/>
        </p:nvSpPr>
        <p:spPr>
          <a:xfrm>
            <a:off x="822960" y="5349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0286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Officer side in scope: 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028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applications, masked e-KYC with a stated purpose, signed records to DigiLocker, challans, exams and benefit transfers — with an audit trail that can't be edited.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Built for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</a:t>
            </a:r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Indian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scope covers literacy, age, ability, bandwidth and language — not just the urban, English-first user.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5486400" cy="39319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2423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“HOW CAN I HELP?” — IN EIGHT OF 17 LIVE LANGUAGES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मैं कैसे मदद करूँ?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2697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Hindi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0723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আমি কীভাবে সাহায্য করতে পারি?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0723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Bengali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447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நான் எப்படி உதவலாம்?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4472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Tamil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8221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నేను ఎలా సహాయం చేయగలను?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8221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Telugu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41970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હું કેવી રીતે મદદ કરી શકું?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41970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Gujarati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4572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ನಾನು ಹೇಗೆ ಸಹಾಯ ಮಾಡಲಿ?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4572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Kannada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9469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ഞാൻ എങ്ങനെ സഹായിക്കാം?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9469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Malayalam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5321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ਮੈਂ ਕਿਵੇਂ ਮਦਦ ਕਰ ਸਕਦਾ ਹਾਂ?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53218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Punjabi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57790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633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Hindi, Bengali and Tamil fully authored · 13 machine-assisted, marked for native review · 6 coming soon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2286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ACCESSIBILITY MODES IN SCOPE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2633472"/>
            <a:ext cx="25603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5" name="tile-microphone"/>
          <p:cNvSpPr/>
          <p:nvPr/>
        </p:nvSpPr>
        <p:spPr>
          <a:xfrm>
            <a:off x="6437376" y="276148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26" name="Image 0" descr="micro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1983" y="2866095"/>
            <a:ext cx="266273" cy="266273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040880" y="263347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Voice on every field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9006840" y="2633472"/>
            <a:ext cx="25603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9" name="tile-speaker-high"/>
          <p:cNvSpPr/>
          <p:nvPr/>
        </p:nvSpPr>
        <p:spPr>
          <a:xfrm>
            <a:off x="9134856" y="276148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30" name="Image 1" descr="speaker-hig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463" y="2866095"/>
            <a:ext cx="266273" cy="266273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9738360" y="263347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aloud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309360" y="3529584"/>
            <a:ext cx="25603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3" name="tile-timer"/>
          <p:cNvSpPr/>
          <p:nvPr/>
        </p:nvSpPr>
        <p:spPr>
          <a:xfrm>
            <a:off x="6437376" y="365760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34" name="Image 2" descr="tim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983" y="3762207"/>
            <a:ext cx="266273" cy="266273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7040880" y="3529584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Slow mode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9006840" y="3529584"/>
            <a:ext cx="25603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7" name="tile-text-aa"/>
          <p:cNvSpPr/>
          <p:nvPr/>
        </p:nvSpPr>
        <p:spPr>
          <a:xfrm>
            <a:off x="9134856" y="365760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38" name="Image 3" descr="text-a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463" y="3762207"/>
            <a:ext cx="266273" cy="266273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9738360" y="3529584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Larger text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6309360" y="4425696"/>
            <a:ext cx="25603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41" name="tile-users"/>
          <p:cNvSpPr/>
          <p:nvPr/>
        </p:nvSpPr>
        <p:spPr>
          <a:xfrm>
            <a:off x="6437376" y="455371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42" name="Image 4" descr="us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1983" y="4658319"/>
            <a:ext cx="266273" cy="266273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7040880" y="4425696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Family / proxy mode</a:t>
            </a:r>
            <a:endParaRPr lang="en-US" sz="1250" dirty="0"/>
          </a:p>
        </p:txBody>
      </p:sp>
      <p:sp>
        <p:nvSpPr>
          <p:cNvPr id="44" name="Shape 37"/>
          <p:cNvSpPr/>
          <p:nvPr/>
        </p:nvSpPr>
        <p:spPr>
          <a:xfrm>
            <a:off x="9006840" y="4425696"/>
            <a:ext cx="25603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45" name="tile-wifi-slash"/>
          <p:cNvSpPr/>
          <p:nvPr/>
        </p:nvSpPr>
        <p:spPr>
          <a:xfrm>
            <a:off x="9134856" y="455371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46" name="Image 5" descr="wifi-slas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463" y="4658319"/>
            <a:ext cx="266273" cy="266273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9738360" y="4425696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Weak-signal ready</a:t>
            </a:r>
            <a:endParaRPr lang="en-US" sz="1250" dirty="0"/>
          </a:p>
        </p:txBody>
      </p:sp>
      <p:sp>
        <p:nvSpPr>
          <p:cNvPr id="48" name="Shape 40"/>
          <p:cNvSpPr/>
          <p:nvPr/>
        </p:nvSpPr>
        <p:spPr>
          <a:xfrm>
            <a:off x="6309360" y="5321808"/>
            <a:ext cx="25603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49" name="tile-eye"/>
          <p:cNvSpPr/>
          <p:nvPr/>
        </p:nvSpPr>
        <p:spPr>
          <a:xfrm>
            <a:off x="6437376" y="5449824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50" name="Image 6" descr="ey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1983" y="5554431"/>
            <a:ext cx="266273" cy="266273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7040880" y="532180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Colour-blind safe</a:t>
            </a:r>
            <a:endParaRPr lang="en-US" sz="1250" dirty="0"/>
          </a:p>
        </p:txBody>
      </p:sp>
      <p:sp>
        <p:nvSpPr>
          <p:cNvPr id="52" name="Shape 43"/>
          <p:cNvSpPr/>
          <p:nvPr/>
        </p:nvSpPr>
        <p:spPr>
          <a:xfrm>
            <a:off x="9006840" y="5321808"/>
            <a:ext cx="25603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3" name="tile-ear"/>
          <p:cNvSpPr/>
          <p:nvPr/>
        </p:nvSpPr>
        <p:spPr>
          <a:xfrm>
            <a:off x="9134856" y="5449824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54" name="Image 7" descr="ea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463" y="5554431"/>
            <a:ext cx="266273" cy="266273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9738360" y="532180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Screen-reader ready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Technical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static, fast, testable web build — the prototype runs in any browser, no install.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6949440" cy="822960"/>
          </a:xfrm>
          <a:prstGeom prst="roundRect">
            <a:avLst>
              <a:gd name="adj" fmla="val 15556"/>
            </a:avLst>
          </a:prstGeom>
          <a:solidFill>
            <a:srgbClr val="EEF2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4144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2402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33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Experience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224028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14 (App Router) · React 18 · TypeScript · Tailwind CSS · Framer Motion · Phosphor Icons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6949440" cy="822960"/>
          </a:xfrm>
          <a:prstGeom prst="roundRect">
            <a:avLst>
              <a:gd name="adj" fmla="val 15556"/>
            </a:avLst>
          </a:prstGeom>
          <a:solidFill>
            <a:srgbClr val="FFF6E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40156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32004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Language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2743200" y="32004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next-intl · 23 locale folders (English + 22 Eighth Schedule) · per-script fonts &amp; line-heights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160520"/>
            <a:ext cx="6949440" cy="822960"/>
          </a:xfrm>
          <a:prstGeom prst="roundRect">
            <a:avLst>
              <a:gd name="adj" fmla="val 15556"/>
            </a:avLst>
          </a:prstGeom>
          <a:solidFill>
            <a:srgbClr val="ECF8F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6168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41605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28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Logic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2743200" y="416052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Scripted agent engine (intents → missions → player) · prototype state context · Vitest unit tests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5120640"/>
            <a:ext cx="6949440" cy="822960"/>
          </a:xfrm>
          <a:prstGeom prst="roundRect">
            <a:avLst>
              <a:gd name="adj" fmla="val 15556"/>
            </a:avLst>
          </a:prstGeom>
          <a:solidFill>
            <a:srgbClr val="F3EFF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21808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5120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D4A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Delivery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2743200" y="51206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export · Hostinger web hosting · Lighthouse budget ≥ 90 performance / ≥ 95 accessibility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772400" y="2240280"/>
            <a:ext cx="3867912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8028432" y="2423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CONCEPTUAL INTEGRATIONS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046720" y="2852928"/>
            <a:ext cx="128016" cy="128016"/>
          </a:xfrm>
          <a:prstGeom prst="ellipse">
            <a:avLst/>
          </a:prstGeom>
          <a:solidFill>
            <a:srgbClr val="FF8A1F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8302752" y="27614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Aadhaar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9555480" y="2761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Proves it's you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8046720" y="3328416"/>
            <a:ext cx="128016" cy="128016"/>
          </a:xfrm>
          <a:prstGeom prst="ellipse">
            <a:avLst/>
          </a:prstGeom>
          <a:solidFill>
            <a:srgbClr val="1F43B8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8302752" y="32369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DigiLocker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9555480" y="32369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Brings verified documents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8046720" y="3803904"/>
            <a:ext cx="128016" cy="128016"/>
          </a:xfrm>
          <a:prstGeom prst="ellipse">
            <a:avLst/>
          </a:prstGeom>
          <a:solidFill>
            <a:srgbClr val="12803C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8302752" y="37124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UPI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9555480" y="37124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Pays fees and dues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8046720" y="4279392"/>
            <a:ext cx="128016" cy="128016"/>
          </a:xfrm>
          <a:prstGeom prst="ellipse">
            <a:avLst/>
          </a:prstGeom>
          <a:solidFill>
            <a:srgbClr val="FF8A1F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8302752" y="41879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Bhashini</a:t>
            </a:r>
            <a:endParaRPr lang="en-US" sz="1250" dirty="0"/>
          </a:p>
        </p:txBody>
      </p:sp>
      <p:sp>
        <p:nvSpPr>
          <p:cNvPr id="33" name="Text 27"/>
          <p:cNvSpPr txBox="1"/>
          <p:nvPr/>
        </p:nvSpPr>
        <p:spPr>
          <a:xfrm>
            <a:off x="9555480" y="4187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Speaks your language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8046720" y="4754880"/>
            <a:ext cx="128016" cy="128016"/>
          </a:xfrm>
          <a:prstGeom prst="ellipse">
            <a:avLst/>
          </a:prstGeom>
          <a:solidFill>
            <a:srgbClr val="1F43B8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8302752" y="4663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 Setu</a:t>
            </a:r>
            <a:endParaRPr lang="en-US" sz="1250" dirty="0"/>
          </a:p>
        </p:txBody>
      </p:sp>
      <p:sp>
        <p:nvSpPr>
          <p:cNvPr id="36" name="Text 30"/>
          <p:cNvSpPr txBox="1"/>
          <p:nvPr/>
        </p:nvSpPr>
        <p:spPr>
          <a:xfrm>
            <a:off x="955548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Talks to departments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8046720" y="5230368"/>
            <a:ext cx="128016" cy="128016"/>
          </a:xfrm>
          <a:prstGeom prst="ellipse">
            <a:avLst/>
          </a:prstGeom>
          <a:solidFill>
            <a:srgbClr val="12803C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8302752" y="51389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CPGRAMS</a:t>
            </a:r>
            <a:endParaRPr lang="en-US" sz="1250" dirty="0"/>
          </a:p>
        </p:txBody>
      </p:sp>
      <p:sp>
        <p:nvSpPr>
          <p:cNvPr id="39" name="Text 33"/>
          <p:cNvSpPr txBox="1"/>
          <p:nvPr/>
        </p:nvSpPr>
        <p:spPr>
          <a:xfrm>
            <a:off x="9555480" y="5138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Escalates complaints</a:t>
            </a:r>
            <a:endParaRPr lang="en-US" sz="1150" dirty="0"/>
          </a:p>
        </p:txBody>
      </p:sp>
      <p:sp>
        <p:nvSpPr>
          <p:cNvPr id="40" name="Text 34"/>
          <p:cNvSpPr txBox="1"/>
          <p:nvPr/>
        </p:nvSpPr>
        <p:spPr>
          <a:xfrm>
            <a:off x="8028432" y="5532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i="1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Saathi is not affiliated with these platforms.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Constraints we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within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Non-negotiables for trust, law and a jury-ready submission.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5440680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ile-prohibit"/>
          <p:cNvSpPr/>
          <p:nvPr/>
        </p:nvSpPr>
        <p:spPr>
          <a:xfrm>
            <a:off x="777240" y="2514600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FDEFEE"/>
          </a:solidFill>
          <a:ln/>
        </p:spPr>
      </p:sp>
      <p:pic>
        <p:nvPicPr>
          <p:cNvPr id="6" name="Image 0" descr="prohi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988" y="2643348"/>
            <a:ext cx="327721" cy="3277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40487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State Emblem of India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734056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by the State Emblem of India (Prohibition of Improper Use) Act, 2005. Saathi uses its own mark — two arcs and a point from the tricolour.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2240280"/>
            <a:ext cx="5440680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0" name="tile-map-pin-simple-area"/>
          <p:cNvSpPr/>
          <p:nvPr/>
        </p:nvSpPr>
        <p:spPr>
          <a:xfrm>
            <a:off x="6400800" y="2514600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11" name="Image 1" descr="map-pin-simple-ar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548" y="2643348"/>
            <a:ext cx="327721" cy="3277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240487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maps of India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2734056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mis-drawn border is a disqualification-grade error. Imagery avoids maps entirely.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547872"/>
            <a:ext cx="5440680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5" name="tile-user-focus"/>
          <p:cNvSpPr/>
          <p:nvPr/>
        </p:nvSpPr>
        <p:spPr>
          <a:xfrm>
            <a:off x="777240" y="3822192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16" name="Image 2" descr="user-focu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988" y="3950940"/>
            <a:ext cx="327721" cy="3277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71246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stock people, no fake testimonials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041648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Personas are clearly personas, shown as typographic monograms.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72200" y="3547872"/>
            <a:ext cx="5440680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0" name="tile-seal-warning"/>
          <p:cNvSpPr/>
          <p:nvPr/>
        </p:nvSpPr>
        <p:spPr>
          <a:xfrm>
            <a:off x="6400800" y="3822192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21" name="Image 3" descr="seal-warn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548" y="3950940"/>
            <a:ext cx="327721" cy="3277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371246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visible disclaimer, everywhere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178040" y="4041648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 design concept. Not affiliated with the Government of India.”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855464"/>
            <a:ext cx="5440680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5" name="tile-scales"/>
          <p:cNvSpPr/>
          <p:nvPr/>
        </p:nvSpPr>
        <p:spPr>
          <a:xfrm>
            <a:off x="777240" y="5129784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26" name="Image 4" descr="scal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988" y="5258532"/>
            <a:ext cx="327721" cy="32772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54480" y="502005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Honest claims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1554480" y="534924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“Designed to” WCAG 2.1 AA, GIGW 3.0, UX4G — never “certified”. Impact numbers are design targets.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72200" y="4855464"/>
            <a:ext cx="5440680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0" name="tile-lock-key"/>
          <p:cNvSpPr/>
          <p:nvPr/>
        </p:nvSpPr>
        <p:spPr>
          <a:xfrm>
            <a:off x="6400800" y="5129784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E8F6F4"/>
          </a:solidFill>
          <a:ln/>
        </p:spPr>
      </p:sp>
      <p:pic>
        <p:nvPicPr>
          <p:cNvPr id="31" name="Image 5" descr="lock-ke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9548" y="5258532"/>
            <a:ext cx="327721" cy="32772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178040" y="502005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Consent before data moves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7178040" y="534924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Shaped by the Digital Personal Data Protection Act, 2023: who, what, why, until when.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lenses of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literature review looks at what governs, what exists, what leads and what research says.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2606040" cy="388620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ile-scales"/>
          <p:cNvSpPr/>
          <p:nvPr/>
        </p:nvSpPr>
        <p:spPr>
          <a:xfrm>
            <a:off x="804672" y="2514600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6" name="Image 0" descr="sca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513" y="2659441"/>
            <a:ext cx="368686" cy="3686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Standards &amp; law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7947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WCAG 2.1 · GIGW 3.0 · UX4G · DPDP Act 2023 · Smart Cities Mission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4672" y="5074920"/>
            <a:ext cx="2103120" cy="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" y="519379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design must comply with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55848" y="2240280"/>
            <a:ext cx="2606040" cy="388620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2" name="tile-stack"/>
          <p:cNvSpPr/>
          <p:nvPr/>
        </p:nvSpPr>
        <p:spPr>
          <a:xfrm>
            <a:off x="3611880" y="2514600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13" name="Image 1" descr="st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721" y="2659441"/>
            <a:ext cx="368686" cy="36868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1188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Indian platforms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611880" y="37947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 Stack rails and UMANG, the government's own unified app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611880" y="5074920"/>
            <a:ext cx="2103120" cy="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611880" y="519379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already exists to build on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63056" y="2240280"/>
            <a:ext cx="2606040" cy="388620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9" name="tile-globe-hemisphere-east"/>
          <p:cNvSpPr/>
          <p:nvPr/>
        </p:nvSpPr>
        <p:spPr>
          <a:xfrm>
            <a:off x="6419088" y="2514600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20" name="Image 2" descr="globe-hemisphere-ea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929" y="2659441"/>
            <a:ext cx="368686" cy="36868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19088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Global benchmarks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6419088" y="37947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GOV.UK · Singapore LifeSG · Ukraine Diia · Estonia · UAE Pass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19088" y="5074920"/>
            <a:ext cx="2103120" cy="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419088" y="519379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world-class civic design looks like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970264" y="2240280"/>
            <a:ext cx="2606040" cy="388620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6" name="tile-books"/>
          <p:cNvSpPr/>
          <p:nvPr/>
        </p:nvSpPr>
        <p:spPr>
          <a:xfrm>
            <a:off x="9226296" y="2514600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27" name="Image 3" descr="book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1137" y="2659441"/>
            <a:ext cx="368686" cy="36868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226296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HCI &amp; AI research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9226296" y="37947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Usability heuristics · human-centred design · human-AI interaction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9226296" y="5074920"/>
            <a:ext cx="2103120" cy="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9226296" y="519379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research says about people and AI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Standards &amp;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each source asks of the design — and how Saathi answers.</a:t>
            </a:r>
            <a:endParaRPr lang="en-US" sz="14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1422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Source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Key requirement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Applied in Saathi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WCAG 2.1 AA (W3C, 2018)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Contrast ≥ 4.5:1, text resize, keyboard &amp; screen-reader access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colour pair tested in code; larger-text &amp; screen-reader modes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GIGW 3.0 (MeitY, 2023)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Guidelines for Indian Government Websites and apps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Bilingual gov strip, official-site guidance, accessibility toolbar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UX4G (NeGD, MeitY)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Design system for Indian e-gov; Noto Sans, Indic legibility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Noto Sans Indic body at 1.8 line-height; 16 px minimum body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DPDP Act, 2023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Purpose-bound, informed, revocable consent for personal data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Consent cards (who, what, why, until when) + privacy dashboard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Smart Cities Mission (MoHUA, 2015)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Citizen-centric, technology-enabled urban services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Municipal, mobility, health and grievance services in one app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State Emblem Act, 2005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Prohibits improper use of the national emblem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 brand mark; disclaimer on every page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India Stack — the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rails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Saathi is designed as a front door on top of India's digital public infrastructure — built on it, not beside it.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35204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ile-fingerprint"/>
          <p:cNvSpPr/>
          <p:nvPr/>
        </p:nvSpPr>
        <p:spPr>
          <a:xfrm>
            <a:off x="777240" y="2468880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6" name="Image 0" descr="fingerpri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917" y="2585557"/>
            <a:ext cx="296997" cy="29699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441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Aadhaar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UIDAI · 2010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Verifiable digital identity for every resident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02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33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e-KYC at onboarding; masked by default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2240280"/>
            <a:ext cx="35204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2" name="tile-folder-lock"/>
          <p:cNvSpPr/>
          <p:nvPr/>
        </p:nvSpPr>
        <p:spPr>
          <a:xfrm>
            <a:off x="4526280" y="2468880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13" name="Image 1" descr="folder-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957" y="2585557"/>
            <a:ext cx="296997" cy="29699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12080" y="2441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DigiLocker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5212080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MeitY · 2015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Issued documents on the phone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4526280" y="3502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33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Pre-fills applications; wallet cards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46720" y="2240280"/>
            <a:ext cx="35204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9" name="tile-currency-inr"/>
          <p:cNvSpPr/>
          <p:nvPr/>
        </p:nvSpPr>
        <p:spPr>
          <a:xfrm>
            <a:off x="8275320" y="2468880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20" name="Image 2" descr="currency-in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997" y="2585557"/>
            <a:ext cx="296997" cy="29699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961120" y="2441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UPI</a:t>
            </a:r>
            <a:endParaRPr lang="en-US" sz="1550" dirty="0"/>
          </a:p>
        </p:txBody>
      </p:sp>
      <p:sp>
        <p:nvSpPr>
          <p:cNvPr id="22" name="Text 17"/>
          <p:cNvSpPr txBox="1"/>
          <p:nvPr/>
        </p:nvSpPr>
        <p:spPr>
          <a:xfrm>
            <a:off x="8961120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NPCI · 2016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27532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Instant, interoperable payments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8275320" y="3502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33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Property tax, fees and challans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548640" y="4206240"/>
            <a:ext cx="35204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6" name="tile-translate"/>
          <p:cNvSpPr/>
          <p:nvPr/>
        </p:nvSpPr>
        <p:spPr>
          <a:xfrm>
            <a:off x="777240" y="4434840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27" name="Image 3" descr="transla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17" y="4551517"/>
            <a:ext cx="296997" cy="29699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463040" y="4407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Bhashini</a:t>
            </a:r>
            <a:endParaRPr lang="en-US" sz="1550" dirty="0"/>
          </a:p>
        </p:txBody>
      </p:sp>
      <p:sp>
        <p:nvSpPr>
          <p:cNvPr id="29" name="Text 23"/>
          <p:cNvSpPr txBox="1"/>
          <p:nvPr/>
        </p:nvSpPr>
        <p:spPr>
          <a:xfrm>
            <a:off x="1463040" y="4709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MeitY · 2022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777240" y="5120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 technology for Indian languages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777240" y="54681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33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Voice and translation across 22 languages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4297680" y="4206240"/>
            <a:ext cx="35204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3" name="tile-plugs-connected"/>
          <p:cNvSpPr/>
          <p:nvPr/>
        </p:nvSpPr>
        <p:spPr>
          <a:xfrm>
            <a:off x="4526280" y="4434840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E8F6F4"/>
          </a:solidFill>
          <a:ln/>
        </p:spPr>
      </p:sp>
      <p:pic>
        <p:nvPicPr>
          <p:cNvPr id="34" name="Image 4" descr="plugs-connecte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2957" y="4551517"/>
            <a:ext cx="296997" cy="296997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212080" y="4407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 Setu</a:t>
            </a:r>
            <a:endParaRPr lang="en-US" sz="1550" dirty="0"/>
          </a:p>
        </p:txBody>
      </p:sp>
      <p:sp>
        <p:nvSpPr>
          <p:cNvPr id="36" name="Text 29"/>
          <p:cNvSpPr txBox="1"/>
          <p:nvPr/>
        </p:nvSpPr>
        <p:spPr>
          <a:xfrm>
            <a:off x="5212080" y="4709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MeitY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4526280" y="5120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APIs between departments</a:t>
            </a:r>
            <a:endParaRPr lang="en-US" sz="1150" dirty="0"/>
          </a:p>
        </p:txBody>
      </p:sp>
      <p:sp>
        <p:nvSpPr>
          <p:cNvPr id="38" name="Text 31"/>
          <p:cNvSpPr txBox="1"/>
          <p:nvPr/>
        </p:nvSpPr>
        <p:spPr>
          <a:xfrm>
            <a:off x="4526280" y="54681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33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How consoles exchange records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8046720" y="4206240"/>
            <a:ext cx="35204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40" name="tile-megaphone"/>
          <p:cNvSpPr/>
          <p:nvPr/>
        </p:nvSpPr>
        <p:spPr>
          <a:xfrm>
            <a:off x="8275320" y="4434840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FDEFEE"/>
          </a:solidFill>
          <a:ln/>
        </p:spPr>
      </p:sp>
      <p:pic>
        <p:nvPicPr>
          <p:cNvPr id="41" name="Image 5" descr="megaphon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1997" y="4551517"/>
            <a:ext cx="296997" cy="296997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8961120" y="4407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CPGRAMS</a:t>
            </a:r>
            <a:endParaRPr lang="en-US" sz="1550" dirty="0"/>
          </a:p>
        </p:txBody>
      </p:sp>
      <p:sp>
        <p:nvSpPr>
          <p:cNvPr id="43" name="Text 35"/>
          <p:cNvSpPr txBox="1"/>
          <p:nvPr/>
        </p:nvSpPr>
        <p:spPr>
          <a:xfrm>
            <a:off x="8961120" y="4709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DARPG</a:t>
            </a:r>
            <a:endParaRPr lang="en-US" sz="1050" dirty="0"/>
          </a:p>
        </p:txBody>
      </p:sp>
      <p:sp>
        <p:nvSpPr>
          <p:cNvPr id="44" name="Text 36"/>
          <p:cNvSpPr txBox="1"/>
          <p:nvPr/>
        </p:nvSpPr>
        <p:spPr>
          <a:xfrm>
            <a:off x="8275320" y="5120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Centralised public grievance system</a:t>
            </a:r>
            <a:endParaRPr lang="en-US" sz="1150" dirty="0"/>
          </a:p>
        </p:txBody>
      </p:sp>
      <p:sp>
        <p:nvSpPr>
          <p:cNvPr id="45" name="Text 37"/>
          <p:cNvSpPr txBox="1"/>
          <p:nvPr/>
        </p:nvSpPr>
        <p:spPr>
          <a:xfrm>
            <a:off x="8275320" y="54681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33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Escalate a delay with context filled in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UMANG — and where Saathi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differs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UMANG proved aggregation is possible. Saathi asks how it feels for a real person to use one service.</a:t>
            </a:r>
            <a:endParaRPr lang="en-US" sz="14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34840"/>
                <a:gridCol w="455371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Aspect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UMANG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38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Saathi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Organising idea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directory of departments — you must know the service's name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86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Life moments, needs and entitlements — start from your situation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Language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 languages, but most forms fall back to English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86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Vernacular-first, voice on every field, script swaps in 200 ms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Discovery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search — nothing tells you what you're owed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86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Profile-based scheme cards with “why you qualify”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Trust &amp; calm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Official, but visually dense and utilitarian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86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Calm authority — verification and status in the first five seconds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Help &amp; status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Largely on your own once you submit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86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 with named officers; family proxy is first-class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Accessibility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Little for low-literacy or low-vision users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86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Slow mode, larger text, read-aloud, weak-signal design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i="1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UMANG is a real, large-scale product serving millions. This comparison is about design philosophy — not a critique of its engineering or reach.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Global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benchmarks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best civic products in the world, and the one lesson Saathi takes from each.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2044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4231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GOV.UK Design System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614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spc="150" kern="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UNITED KINGDOM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9067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Ruthless clarity, plain language, one thing per page, accessible defaults.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194560"/>
            <a:ext cx="352044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24231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LifeSG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614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spc="150" kern="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SINGAPORE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09067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organised around life moments — validates Saathi's core frame.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194560"/>
            <a:ext cx="352044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21040" y="24231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Diia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7614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spc="150" kern="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UKRAINE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09067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confident state brand and pastel document cards people are proud of.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52044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0690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e-Estonia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4074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spc="150" kern="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ESTONIA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73659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transparency: citizens can see who looked at their records.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840480"/>
            <a:ext cx="352044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572000" y="40690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UAE Pass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4074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spc="150" kern="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UNITED ARAB EMIRATES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73659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identity as a first-class object across every service.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3840480"/>
            <a:ext cx="352044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321040" y="40690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KRDS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4074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spc="150" kern="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SOUTH KOREA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73659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national design system shared by every government service.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11091672" cy="658368"/>
          </a:xfrm>
          <a:prstGeom prst="roundRect">
            <a:avLst>
              <a:gd name="adj" fmla="val 22222"/>
            </a:avLst>
          </a:prstGeom>
          <a:solidFill>
            <a:srgbClr val="EEF2F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4864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0286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Saathi combines them: 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028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GOV.UK's clarity + LifeSG's life moments + Diia's document cards + Estonia's access log — in India's languages.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</a:t>
            </a:r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says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Foundational HCI and human-AI literature that shaped the design decisions.</a:t>
            </a:r>
            <a:endParaRPr lang="en-US" sz="14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1672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3657600"/>
                <a:gridCol w="40050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Author / work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Key idea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Design decision in Saathi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Nielsen (1994) — 10 Usability Heuristics</a:t>
                      </a:r>
                      <a:endParaRPr lang="en-US" sz="10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Visibility of system status; match the real world; error prevention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 is sacred: live timelines; plain words; drafts never lost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Norman (2013) — The Design of Everyday Things</a:t>
                      </a:r>
                      <a:endParaRPr lang="en-US" sz="10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Affordances, signifiers, feedback and mapping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Big tap targets, explicit labels, receipts after every action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ISO 9241-210:2019 — Human-centred design</a:t>
                      </a:r>
                      <a:endParaRPr lang="en-US" sz="10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Design from users' context, iterate with evaluation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Personas from field conversations; validation plan per persona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Design Council (2005) — Double Diamond</a:t>
                      </a:r>
                      <a:endParaRPr lang="en-US" sz="10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Diverge, then converge — on the problem, then on the solution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Project phases: identify → scope → plan → design → validate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Amershi et al. (CHI 2019) — Guidelines for Human-AI Interaction</a:t>
                      </a:r>
                      <a:endParaRPr lang="en-US" sz="10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Make clear what AI can do; support correction and dismissal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 card, sources named, Approve / Edit / Cancel, stop button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Shneiderman (2022) — Human-Centered AI</a:t>
                      </a:r>
                      <a:endParaRPr lang="en-US" sz="10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automation with high human control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 acts only after consent; a person is always one tap away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Gaps → design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implications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review revealed, and how each gap became a decision.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GAP IN EXISTING SOLUTIONS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46520" y="2194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SAATHI'S RESPONSE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257800" cy="512064"/>
          </a:xfrm>
          <a:prstGeom prst="roundRect">
            <a:avLst>
              <a:gd name="adj" fmla="val 21429"/>
            </a:avLst>
          </a:prstGeom>
          <a:solidFill>
            <a:srgbClr val="F7F8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51460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organised by department, not by life</a:t>
            </a:r>
            <a:endParaRPr lang="en-US" sz="1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1888" y="2642616"/>
            <a:ext cx="274320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2514600"/>
            <a:ext cx="5239512" cy="512064"/>
          </a:xfrm>
          <a:prstGeom prst="roundRect">
            <a:avLst>
              <a:gd name="adj" fmla="val 21429"/>
            </a:avLst>
          </a:prstGeom>
          <a:solidFill>
            <a:srgbClr val="EEF2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601968" y="251460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0286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lenses: moments, needs, entitlements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127248"/>
            <a:ext cx="5257800" cy="512064"/>
          </a:xfrm>
          <a:prstGeom prst="roundRect">
            <a:avLst>
              <a:gd name="adj" fmla="val 21429"/>
            </a:avLst>
          </a:prstGeom>
          <a:solidFill>
            <a:srgbClr val="F7F8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" y="312724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Forms fall back to English; no voice</a:t>
            </a:r>
            <a:endParaRPr lang="en-US" sz="12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3255264"/>
            <a:ext cx="274320" cy="2560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00800" y="3127248"/>
            <a:ext cx="5239512" cy="512064"/>
          </a:xfrm>
          <a:prstGeom prst="roundRect">
            <a:avLst>
              <a:gd name="adj" fmla="val 21429"/>
            </a:avLst>
          </a:prstGeom>
          <a:solidFill>
            <a:srgbClr val="EEF2FC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601968" y="312724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0286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Vernacular-first + voice on every field, 17 languages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739896"/>
            <a:ext cx="5257800" cy="512064"/>
          </a:xfrm>
          <a:prstGeom prst="roundRect">
            <a:avLst>
              <a:gd name="adj" fmla="val 21429"/>
            </a:avLst>
          </a:prstGeom>
          <a:solidFill>
            <a:srgbClr val="F7F8F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73989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way to tell real portals from fakes</a:t>
            </a:r>
            <a:endParaRPr lang="en-US" sz="12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3867912"/>
            <a:ext cx="274320" cy="25603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400800" y="3739896"/>
            <a:ext cx="5239512" cy="512064"/>
          </a:xfrm>
          <a:prstGeom prst="roundRect">
            <a:avLst>
              <a:gd name="adj" fmla="val 21429"/>
            </a:avLst>
          </a:prstGeom>
          <a:solidFill>
            <a:srgbClr val="EEF2FC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601968" y="373989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0286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Trust in 5 seconds: verification, sources, verifiable receipts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4352544"/>
            <a:ext cx="5257800" cy="512064"/>
          </a:xfrm>
          <a:prstGeom prst="roundRect">
            <a:avLst>
              <a:gd name="adj" fmla="val 21429"/>
            </a:avLst>
          </a:prstGeom>
          <a:solidFill>
            <a:srgbClr val="F7F8FA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749808" y="435254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Chatbots answer, but don't act</a:t>
            </a:r>
            <a:endParaRPr lang="en-US" sz="12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4480560"/>
            <a:ext cx="274320" cy="25603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400800" y="4352544"/>
            <a:ext cx="5239512" cy="512064"/>
          </a:xfrm>
          <a:prstGeom prst="roundRect">
            <a:avLst>
              <a:gd name="adj" fmla="val 21429"/>
            </a:avLst>
          </a:prstGeom>
          <a:solidFill>
            <a:srgbClr val="EEF2FC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6601968" y="435254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0286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agent that plans, asks consent, then does the paperwork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48640" y="4965192"/>
            <a:ext cx="5257800" cy="512064"/>
          </a:xfrm>
          <a:prstGeom prst="roundRect">
            <a:avLst>
              <a:gd name="adj" fmla="val 21429"/>
            </a:avLst>
          </a:prstGeom>
          <a:solidFill>
            <a:srgbClr val="F7F8FA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749808" y="496519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Citizens can't see who used their data</a:t>
            </a:r>
            <a:endParaRPr lang="en-US" sz="12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5093208"/>
            <a:ext cx="274320" cy="256032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6400800" y="4965192"/>
            <a:ext cx="5239512" cy="512064"/>
          </a:xfrm>
          <a:prstGeom prst="roundRect">
            <a:avLst>
              <a:gd name="adj" fmla="val 21429"/>
            </a:avLst>
          </a:prstGeom>
          <a:solidFill>
            <a:srgbClr val="EEF2FC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6601968" y="496519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0286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Privacy dashboard: access log and one-tap revoke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548640" y="5577840"/>
            <a:ext cx="5257800" cy="512064"/>
          </a:xfrm>
          <a:prstGeom prst="roundRect">
            <a:avLst>
              <a:gd name="adj" fmla="val 21429"/>
            </a:avLst>
          </a:prstGeom>
          <a:solidFill>
            <a:srgbClr val="F7F8FA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749808" y="557784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Officer side invisible to citizens</a:t>
            </a:r>
            <a:endParaRPr lang="en-US" sz="125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5705856"/>
            <a:ext cx="274320" cy="256032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6400800" y="5577840"/>
            <a:ext cx="5239512" cy="512064"/>
          </a:xfrm>
          <a:prstGeom prst="roundRect">
            <a:avLst>
              <a:gd name="adj" fmla="val 21429"/>
            </a:avLst>
          </a:prstGeom>
          <a:solidFill>
            <a:srgbClr val="EEF2FC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6601968" y="557784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0286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Department consoles — decisions reach the citizen live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[1]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78308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W3C (2018). Web Content Accessibility Guidelines (WCAG) 2.1. World Wide Web Consortium.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[2]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0487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MeitY (2023). Guidelines for Indian Government Websites and Apps (GIGW 3.0). Government of India.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[3]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02666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NeGD, MeitY. UX4G — User Experience for Government design system. Government of India.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[4]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64845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of India (2023). The Digital Personal Data Protection Act, 2023.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[5]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27024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of India (2005). The State Emblem of India (Prohibition of Improper Use) Act, 2005.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[6]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89204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MoHUA (2015). Smart Cities Mission — Mission Statement &amp; Guidelines. Government of India.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513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[7]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551383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Nielsen, J. (1994). Enhancing the explanatory power of usability heuristics. Proc. CHI '94, ACM.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[8]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78308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Norman, D. (2013). The Design of Everyday Things (Revised &amp; expanded ed.). Basic Books.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[9]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240487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 9241-210:2019. Ergonomics of human-system interaction — Human-centred design for interactive systems.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[10]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302666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Council (2005). The Double Diamond design process model. London.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[11]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364845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Amershi, S. et al. (2019). Guidelines for Human-AI Interaction. Proc. CHI '19, ACM.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[12]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427024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Shneiderman, B. (2022). Human-Centered AI. Oxford University Press.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[13]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489204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GOV.UK Design System; Singapore LifeSG; Ukraine Diia — public product documentation.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5513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[14]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629400" y="551383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NPCI (2026). UPI product statistics; UIDAI Aadhaar dashboard; DigiLocker statistics.</a:t>
            </a:r>
            <a:endParaRPr lang="en-US" sz="1100" dirty="0"/>
          </a:p>
        </p:txBody>
      </p:sp>
      <p:sp>
        <p:nvSpPr>
          <p:cNvPr id="31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olam tex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0"/>
            <a:ext cx="5486400" cy="6858000"/>
          </a:xfrm>
          <a:prstGeom prst="rect">
            <a:avLst/>
          </a:prstGeom>
        </p:spPr>
      </p:pic>
      <p:sp>
        <p:nvSpPr>
          <p:cNvPr id="3" name="Text 3"/>
          <p:cNvSpPr/>
          <p:nvPr>
            <p:ph idx="104" type="title" hasCustomPrompt="1"/>
          </p:nvPr>
        </p:nvSpPr>
        <p:spPr>
          <a:xfrm>
            <a:off x="548640" y="201168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Thank </a:t>
            </a:r>
            <a:pPr algn="l" indent="0" marL="0">
              <a:buNone/>
            </a:pPr>
            <a:r>
              <a:rPr lang="en-US" sz="4000" i="1" dirty="0">
                <a:solidFill>
                  <a:srgbClr val="FF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</a:t>
            </a:r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718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DDE5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 fixed the boundary of the project and grounded every decision in standards, platforms and research.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48640" y="4069080"/>
            <a:ext cx="5852160" cy="1234440"/>
          </a:xfrm>
          <a:prstGeom prst="roundRect">
            <a:avLst>
              <a:gd name="adj" fmla="val 11852"/>
            </a:avLst>
          </a:prstGeom>
          <a:solidFill>
            <a:srgbClr val="10286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4672" y="42245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FFBE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 · PHASE 3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449884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Planning, budgeting, task definition and preliminary design: timeline, costs, work breakdown, information architecture and first screens.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623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Krishom Sharma  ·  BCA (UI/UX Designs)  ·  UID 24BCU10002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B9C8F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athi Bharat Precision">
  <a:themeElements>
    <a:clrScheme name="Saathi Bharat Precision">
      <a:dk1>
        <a:srgbClr val="0B0D14"/>
      </a:dk1>
      <a:lt1>
        <a:srgbClr val="FFFFFF"/>
      </a:lt1>
      <a:dk2>
        <a:srgbClr val="0A1C54"/>
      </a:dk2>
      <a:lt2>
        <a:srgbClr val="F7F8FA"/>
      </a:lt2>
      <a:accent1>
        <a:srgbClr val="1F43B8"/>
      </a:accent1>
      <a:accent2>
        <a:srgbClr val="FF8A1F"/>
      </a:accent2>
      <a:accent3>
        <a:srgbClr val="12803C"/>
      </a:accent3>
      <a:accent4>
        <a:srgbClr val="5577E0"/>
      </a:accent4>
      <a:accent5>
        <a:srgbClr val="B45309"/>
      </a:accent5>
      <a:accent6>
        <a:srgbClr val="626978"/>
      </a:accent6>
      <a:hlink>
        <a:srgbClr val="1F43B8"/>
      </a:hlink>
      <a:folHlink>
        <a:srgbClr val="16338F"/>
      </a:folHlink>
    </a:clrScheme>
    <a:fontScheme name="Saathi Bharat Precision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2 — Project Scope &amp; Literature Review</dc:title>
  <dc:subject>Minor Project · Smart City Citizen Services App (Saathi)</dc:subject>
  <dc:creator>Krishom Sharma</dc:creator>
  <cp:lastModifiedBy>Krishom Sharma</cp:lastModifiedBy>
  <cp:revision>1</cp:revision>
  <dcterms:created xsi:type="dcterms:W3CDTF">2026-10-05T04:57:15Z</dcterms:created>
  <dcterms:modified xsi:type="dcterms:W3CDTF">2026-10-05T04:57:15Z</dcterms:modified>
</cp:coreProperties>
</file>